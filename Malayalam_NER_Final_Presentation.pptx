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Albin, Adnan and Aswin. Our project is Named Entity Recognition for Malayalam. In one line: we fine-tuned IndicBERTv2, a Transformer pre-trained on Indian languages, and added a CRF output layer. On the human-annotated Naamapadam test set this reaches 84.25 strict entity F1, 12 points above the softmax approach of our base paper. We also deployed it as a web app and a REST API.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NER means finding proper names and their type. We treat it as sequence labelling: one tag per word. IOB2: B marks the first word of a name, I the following words, O everything else. Three types gives seven tags. Key rule for later: an I tag must follow a B or I of the same type. Here the model correctly tags the agglutinated city name as LOC and groups Pinarayi Vijayan as one person.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challenges. No capitalization. Agglutination: the same city appears in many surface forms, so a word-level vocabulary fails; we handle this with subword tokenization. Ambiguity: organizations often start with a place name, which is our biggest error source later. And low resource: until Naamapadam there was very little labelled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base paper fine-tunes multilingual BERT with a softmax layer, reaching 82.2 F1 for Malayalam on WikiAnn. We found four gaps. It tags each token independently, so invalid sequences are possible. It never explains subword alignment. The metric is unclear and some numbers are inconsistent: Marathi ORG F1 is higher than both its precision and recall, which is impossible for a harmonic mean. And WikiAnn is automatically labelled. The right column is what we did about each.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Naamapadam. Its training labels are projected from English, so they are noisy, but the test set is human annotated, so our test score is reliable. Because of compute, we trained on the first fifty thousand sentences. The chart shows heavy imbalance: three quarters of words are O, and I-LOC is under one percent.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to end: split text into words, WordPiece tokenizer, IndicBERTv2 encoder, a linear layer that gives seven scores per position, then either softmax or CRF. Finally we group tags into entity spans and, for the demo only, add DATE and CARDINAL with regex rules. Everything is identical between the two models except the output head and its loss.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how we deal with agglutination without a morphological analyser. The tokenizer splits ‘will become deputy chief minister’ into two pieces. Only the first piece carries the label; the second gets minus one hundred, which PyTorch ignores. Same for CLS, SEP and padding. Average fertility is 1.56 subwords per word, so about a third of positions are masked. The base paper never specified this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idea. The softmax head decides every word separately, so it can output O followed by I-PER, which is invalid and scores zero under strict matching. The CRF adds a learned transition score for every pair of tags and scores whole sequences. Viterbi finds the best path efficiently. In this example the CRF fixes word one to B-PER, because a strong I-PER on word two only makes sense after a B-PER. It costs only 63 extra parameters and a few percent more inference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BERT fine-tuning recipe, the same for both heads so the comparison is fair. Warm-up protects the pre-trained weights while the new head is random. FP16 lets batch 32 fit in our 6 GB GPU. The curves are from the short demo run in notebook 02; both losses drop quickly and flatten. The CRF loss is larger only because it is per sentence, not per word.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result. The CRF reaches 84.25 strict entity F1, twelve points above the softmax head. It wins on every class. The gain is largest on ORG, plus twenty, the class with the longest names, which is exactly where modelling transitions should help. Notice the softmax has high recall but low precision: 81 versus 65. The CRF is balanced at about 84 each. Invalid transitions drop from 98 to 20.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the CRF win? The softmax model, pushed by strong class weights, predicts about 1,876 entities when there are only 1,505, so precision suffers. The CRF predicts about 1,498, so it is balanced. To be transparent: the CRF is not class-weighted, so the twelve points combine the decoder and the weighting change. A two-by-two ablation is in our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diagonal is correct predictions. In the softmax matrix the first row leaks: 800 non-entity words tagged as entities. The CRF cuts that to 150. The CRF's main error is the first column: entity words predicted as O, especially the tail of long organization names, 123 of 249 I-ORG words. Once the model finds an entity it almost always gets the type right. Under strict matching a truncated span counts as both a false positive and a false negative.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Comparisons across papers must be read carefully, because datasets and metrics differ. The fair external comparison is IndicNER on the same Naamapadam benchmark: 81.67; we reach 84.25 with seven percent of the training data and strict matching. We also exceed the base paper's 82.2, though on a different dataset. The 96 and 88 figures come from unreleased or tiny private test sets.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wrapped the CRF model in two front ends that share one predictor class. The Gradio app is for people: highlighting, confidence, Wikipedia links, and batch processing of documents. The FastAPI service is for programs: send text, get JSON. Since the dataset has no dates or numbers, a small rule layer adds DATE and CARDINAL, only where the model said O, and never in our reported metrics. If time allows, show the live demo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Strengths are on the left. On the right, our honest limitations. The most technical one: our CRF runs over subword positions with a mask that skips continuation pieces, but the library assumes the mask is contiguous, so the learned transitions are approximate; that explains the 20 remaining invalid transitions. Moving the CRF to word-level emissions fixes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 fine-tuned Indic Transformer with careful subword alignment and a CRF gives 84.25 strict F1, twelve points over the softmax approach, and it runs on a laptop GPU. ORG remains the hard part. Next we would move the CRF to word level, run proper ablations, and compare encoders.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 and we can show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1097280"/>
          </a:xfrm>
          <a:prstGeom prst="rect">
            <a:avLst/>
          </a:prstGeom>
          <a:solidFill>
            <a:srgbClr val="2E3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73328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960120"/>
            <a:ext cx="10058400" cy="365760"/>
          </a:xfrm>
          <a:prstGeom prst="rect">
            <a:avLst/>
          </a:prstGeom>
          <a:noFill/>
        </p:spPr>
        <p:txBody>
          <a:bodyPr wrap="square" anchor="t" lIns="45720" rIns="45720">
            <a:spAutoFit/>
          </a:bodyPr>
          <a:lstStyle/>
          <a:p>
            <a:pPr algn="l">
              <a:lnSpc>
                <a:spcPct val="110000"/>
              </a:lnSpc>
            </a:pPr>
            <a:r>
              <a:rPr sz="1300" b="1" i="0">
                <a:solidFill>
                  <a:srgbClr val="C9CEF2"/>
                </a:solidFill>
                <a:latin typeface="Segoe UI"/>
                <a:cs typeface="Nirmala UI"/>
                <a:ea typeface="Nirmala UI"/>
              </a:rPr>
              <a:t>CSE413 SPEECH &amp; NLP  •  MINOR PROJECT  •  FINAL EVALUATION</a:t>
            </a:r>
          </a:p>
        </p:txBody>
      </p:sp>
      <p:sp>
        <p:nvSpPr>
          <p:cNvPr id="6" name="TextBox 5"/>
          <p:cNvSpPr txBox="1"/>
          <p:nvPr/>
        </p:nvSpPr>
        <p:spPr>
          <a:xfrm>
            <a:off x="777240" y="1371600"/>
            <a:ext cx="10515600" cy="1737360"/>
          </a:xfrm>
          <a:prstGeom prst="rect">
            <a:avLst/>
          </a:prstGeom>
          <a:noFill/>
        </p:spPr>
        <p:txBody>
          <a:bodyPr wrap="square" anchor="t" lIns="45720" rIns="45720">
            <a:spAutoFit/>
          </a:bodyPr>
          <a:lstStyle/>
          <a:p>
            <a:pPr algn="l">
              <a:lnSpc>
                <a:spcPct val="110000"/>
              </a:lnSpc>
            </a:pPr>
            <a:r>
              <a:rPr sz="4400" b="1" i="0">
                <a:solidFill>
                  <a:srgbClr val="FFFFFF"/>
                </a:solidFill>
                <a:latin typeface="Segoe UI"/>
                <a:cs typeface="Nirmala UI"/>
                <a:ea typeface="Nirmala UI"/>
              </a:rPr>
              <a:t>Malayalam Named Entity Recognition</a:t>
            </a:r>
          </a:p>
          <a:p>
            <a:pPr algn="l">
              <a:lnSpc>
                <a:spcPct val="110000"/>
              </a:lnSpc>
            </a:pPr>
            <a:r>
              <a:rPr sz="3400" b="1" i="0">
                <a:solidFill>
                  <a:srgbClr val="DDE1FA"/>
                </a:solidFill>
                <a:latin typeface="Segoe UI"/>
                <a:cs typeface="Nirmala UI"/>
                <a:ea typeface="Nirmala UI"/>
              </a:rPr>
              <a:t>with Fine-Tuned IndicBERTv2 + CRF</a:t>
            </a:r>
          </a:p>
        </p:txBody>
      </p:sp>
      <p:sp>
        <p:nvSpPr>
          <p:cNvPr id="7" name="TextBox 6"/>
          <p:cNvSpPr txBox="1"/>
          <p:nvPr/>
        </p:nvSpPr>
        <p:spPr>
          <a:xfrm>
            <a:off x="777240" y="3246120"/>
            <a:ext cx="10515600" cy="822960"/>
          </a:xfrm>
          <a:prstGeom prst="rect">
            <a:avLst/>
          </a:prstGeom>
          <a:noFill/>
        </p:spPr>
        <p:txBody>
          <a:bodyPr wrap="square" anchor="t" lIns="45720" rIns="45720">
            <a:spAutoFit/>
          </a:bodyPr>
          <a:lstStyle/>
          <a:p>
            <a:pPr algn="l">
              <a:lnSpc>
                <a:spcPct val="110000"/>
              </a:lnSpc>
            </a:pPr>
            <a:r>
              <a:rPr sz="1700" b="0" i="0">
                <a:solidFill>
                  <a:srgbClr val="E4E7FB"/>
                </a:solidFill>
                <a:latin typeface="Segoe UI"/>
                <a:cs typeface="Nirmala UI"/>
                <a:ea typeface="Nirmala UI"/>
              </a:rPr>
              <a:t>We fine-tune an Indic Transformer to find people, organizations and places in raw Malayalam text, and show that a CRF output layer beats the base paper's softmax head by 12 F1 points.</a:t>
            </a:r>
          </a:p>
        </p:txBody>
      </p:sp>
      <p:sp>
        <p:nvSpPr>
          <p:cNvPr id="8" name="Rounded Rectangle 7"/>
          <p:cNvSpPr/>
          <p:nvPr/>
        </p:nvSpPr>
        <p:spPr>
          <a:xfrm>
            <a:off x="777240" y="4343400"/>
            <a:ext cx="1005840" cy="384048"/>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300" b="1" i="0">
                <a:solidFill>
                  <a:srgbClr val="FFFFFF"/>
                </a:solidFill>
                <a:latin typeface="Segoe UI"/>
                <a:cs typeface="Nirmala UI"/>
                <a:ea typeface="Nirmala UI"/>
              </a:rPr>
              <a:t>PER</a:t>
            </a:r>
          </a:p>
        </p:txBody>
      </p:sp>
      <p:sp>
        <p:nvSpPr>
          <p:cNvPr id="9" name="Rounded Rectangle 8"/>
          <p:cNvSpPr/>
          <p:nvPr/>
        </p:nvSpPr>
        <p:spPr>
          <a:xfrm>
            <a:off x="1920240" y="4343400"/>
            <a:ext cx="1005840" cy="38404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300" b="1" i="0">
                <a:solidFill>
                  <a:srgbClr val="FFFFFF"/>
                </a:solidFill>
                <a:latin typeface="Segoe UI"/>
                <a:cs typeface="Nirmala UI"/>
                <a:ea typeface="Nirmala UI"/>
              </a:rPr>
              <a:t>ORG</a:t>
            </a:r>
          </a:p>
        </p:txBody>
      </p:sp>
      <p:sp>
        <p:nvSpPr>
          <p:cNvPr id="10" name="Rounded Rectangle 9"/>
          <p:cNvSpPr/>
          <p:nvPr/>
        </p:nvSpPr>
        <p:spPr>
          <a:xfrm>
            <a:off x="3063240" y="4343400"/>
            <a:ext cx="1005840" cy="38404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300" b="1" i="0">
                <a:solidFill>
                  <a:srgbClr val="FFFFFF"/>
                </a:solidFill>
                <a:latin typeface="Segoe UI"/>
                <a:cs typeface="Nirmala UI"/>
                <a:ea typeface="Nirmala UI"/>
              </a:rPr>
              <a:t>LOC</a:t>
            </a:r>
          </a:p>
        </p:txBody>
      </p:sp>
      <p:sp>
        <p:nvSpPr>
          <p:cNvPr id="11" name="Rounded Rectangle 10"/>
          <p:cNvSpPr/>
          <p:nvPr/>
        </p:nvSpPr>
        <p:spPr>
          <a:xfrm>
            <a:off x="4206240" y="4343400"/>
            <a:ext cx="1005840" cy="384048"/>
          </a:xfrm>
          <a:prstGeom prst="roundRect">
            <a:avLst>
              <a:gd name="adj" fmla="val 50000"/>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300" b="1" i="0">
                <a:solidFill>
                  <a:srgbClr val="FFFFFF"/>
                </a:solidFill>
                <a:latin typeface="Segoe UI"/>
                <a:cs typeface="Nirmala UI"/>
                <a:ea typeface="Nirmala UI"/>
              </a:rPr>
              <a:t>DATE</a:t>
            </a:r>
          </a:p>
        </p:txBody>
      </p:sp>
      <p:sp>
        <p:nvSpPr>
          <p:cNvPr id="12" name="Rounded Rectangle 11"/>
          <p:cNvSpPr/>
          <p:nvPr/>
        </p:nvSpPr>
        <p:spPr>
          <a:xfrm>
            <a:off x="5349240" y="4343400"/>
            <a:ext cx="1325880" cy="38404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300" b="1" i="0">
                <a:solidFill>
                  <a:srgbClr val="FFFFFF"/>
                </a:solidFill>
                <a:latin typeface="Segoe UI"/>
                <a:cs typeface="Nirmala UI"/>
                <a:ea typeface="Nirmala UI"/>
              </a:rPr>
              <a:t>CARDINAL</a:t>
            </a:r>
          </a:p>
        </p:txBody>
      </p:sp>
      <p:sp>
        <p:nvSpPr>
          <p:cNvPr id="13" name="TextBox 12"/>
          <p:cNvSpPr txBox="1"/>
          <p:nvPr/>
        </p:nvSpPr>
        <p:spPr>
          <a:xfrm>
            <a:off x="777240" y="5943600"/>
            <a:ext cx="7772400" cy="731520"/>
          </a:xfrm>
          <a:prstGeom prst="rect">
            <a:avLst/>
          </a:prstGeom>
          <a:noFill/>
        </p:spPr>
        <p:txBody>
          <a:bodyPr wrap="square" anchor="t" lIns="45720" rIns="45720">
            <a:spAutoFit/>
          </a:bodyPr>
          <a:lstStyle/>
          <a:p>
            <a:pPr algn="l">
              <a:lnSpc>
                <a:spcPct val="110000"/>
              </a:lnSpc>
            </a:pPr>
            <a:r>
              <a:rPr sz="1300" b="0" i="0">
                <a:solidFill>
                  <a:srgbClr val="FFFFFF"/>
                </a:solidFill>
                <a:latin typeface="Segoe UI"/>
                <a:cs typeface="Nirmala UI"/>
                <a:ea typeface="Nirmala UI"/>
              </a:rPr>
              <a:t>Albin John (2023BCD0005)   •   Adnan Soni (2023BCD0017)   •   Aswin Paramesh S S (2023BCD0024)</a:t>
            </a:r>
          </a:p>
          <a:p>
            <a:pPr algn="l">
              <a:lnSpc>
                <a:spcPct val="110000"/>
              </a:lnSpc>
            </a:pPr>
            <a:r>
              <a:rPr sz="1200" b="0" i="1">
                <a:solidFill>
                  <a:srgbClr val="C9CEF2"/>
                </a:solidFill>
                <a:latin typeface="Segoe UI"/>
                <a:cs typeface="Nirmala UI"/>
                <a:ea typeface="Nirmala UI"/>
              </a:rPr>
              <a:t>Department of CSE, Indian Institute of Information Technology Kottayam</a:t>
            </a:r>
          </a:p>
        </p:txBody>
      </p:sp>
      <p:sp>
        <p:nvSpPr>
          <p:cNvPr id="14" name="TextBox 13"/>
          <p:cNvSpPr txBox="1"/>
          <p:nvPr/>
        </p:nvSpPr>
        <p:spPr>
          <a:xfrm>
            <a:off x="9174175" y="6053328"/>
            <a:ext cx="2377440" cy="365760"/>
          </a:xfrm>
          <a:prstGeom prst="rect">
            <a:avLst/>
          </a:prstGeom>
          <a:noFill/>
        </p:spPr>
        <p:txBody>
          <a:bodyPr wrap="square" anchor="t" lIns="45720" rIns="45720">
            <a:spAutoFit/>
          </a:bodyPr>
          <a:lstStyle/>
          <a:p>
            <a:pPr algn="r">
              <a:lnSpc>
                <a:spcPct val="110000"/>
              </a:lnSpc>
            </a:pPr>
            <a:r>
              <a:rPr sz="1300" b="0" i="0">
                <a:solidFill>
                  <a:srgbClr val="C9CEF2"/>
                </a:solidFill>
                <a:latin typeface="Segoe UI"/>
                <a:cs typeface="Nirmala UI"/>
                <a:ea typeface="Nirmala U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PROBLEM</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What is Named Entity Recognition?</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02</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2</a:t>
            </a:r>
          </a:p>
        </p:txBody>
      </p:sp>
      <p:sp>
        <p:nvSpPr>
          <p:cNvPr id="9" name="TextBox 8"/>
          <p:cNvSpPr txBox="1"/>
          <p:nvPr/>
        </p:nvSpPr>
        <p:spPr>
          <a:xfrm>
            <a:off x="502920" y="1325880"/>
            <a:ext cx="11155680" cy="822960"/>
          </a:xfrm>
          <a:prstGeom prst="rect">
            <a:avLst/>
          </a:prstGeom>
          <a:noFill/>
        </p:spPr>
        <p:txBody>
          <a:bodyPr wrap="square" anchor="t" lIns="45720" rIns="45720">
            <a:spAutoFit/>
          </a:bodyPr>
          <a:lstStyle/>
          <a:p>
            <a:pPr algn="l">
              <a:lnSpc>
                <a:spcPct val="110000"/>
              </a:lnSpc>
            </a:pPr>
            <a:r>
              <a:rPr sz="1800" b="0" i="0">
                <a:solidFill>
                  <a:srgbClr val="1F2433"/>
                </a:solidFill>
                <a:latin typeface="Segoe UI"/>
                <a:cs typeface="Nirmala UI"/>
                <a:ea typeface="Nirmala UI"/>
              </a:rPr>
              <a:t>NER finds the </a:t>
            </a:r>
            <a:r>
              <a:rPr sz="1800" b="1" i="0">
                <a:solidFill>
                  <a:srgbClr val="1F2433"/>
                </a:solidFill>
                <a:latin typeface="Segoe UI"/>
                <a:cs typeface="Nirmala UI"/>
                <a:ea typeface="Nirmala UI"/>
              </a:rPr>
              <a:t>names</a:t>
            </a:r>
            <a:r>
              <a:rPr sz="1800" b="0" i="0">
                <a:solidFill>
                  <a:srgbClr val="1F2433"/>
                </a:solidFill>
                <a:latin typeface="Segoe UI"/>
                <a:cs typeface="Nirmala UI"/>
                <a:ea typeface="Nirmala UI"/>
              </a:rPr>
              <a:t> in a sentence and labels their type: </a:t>
            </a:r>
            <a:r>
              <a:rPr sz="1800" b="1" i="0">
                <a:solidFill>
                  <a:srgbClr val="3B82F6"/>
                </a:solidFill>
                <a:latin typeface="Segoe UI"/>
                <a:cs typeface="Nirmala UI"/>
                <a:ea typeface="Nirmala UI"/>
              </a:rPr>
              <a:t>person (PER)</a:t>
            </a:r>
            <a:r>
              <a:rPr sz="1800" b="0" i="0">
                <a:solidFill>
                  <a:srgbClr val="1F2433"/>
                </a:solidFill>
                <a:latin typeface="Segoe UI"/>
                <a:cs typeface="Nirmala UI"/>
                <a:ea typeface="Nirmala UI"/>
              </a:rPr>
              <a:t>, </a:t>
            </a:r>
            <a:r>
              <a:rPr sz="1800" b="1" i="0">
                <a:solidFill>
                  <a:srgbClr val="10B981"/>
                </a:solidFill>
                <a:latin typeface="Segoe UI"/>
                <a:cs typeface="Nirmala UI"/>
                <a:ea typeface="Nirmala UI"/>
              </a:rPr>
              <a:t>organization (ORG)</a:t>
            </a:r>
            <a:r>
              <a:rPr sz="1800" b="0" i="0">
                <a:solidFill>
                  <a:srgbClr val="1F2433"/>
                </a:solidFill>
                <a:latin typeface="Segoe UI"/>
                <a:cs typeface="Nirmala UI"/>
                <a:ea typeface="Nirmala UI"/>
              </a:rPr>
              <a:t>, </a:t>
            </a:r>
            <a:r>
              <a:rPr sz="1800" b="1" i="0">
                <a:solidFill>
                  <a:srgbClr val="B7790A"/>
                </a:solidFill>
                <a:latin typeface="Segoe UI"/>
                <a:cs typeface="Nirmala UI"/>
                <a:ea typeface="Nirmala UI"/>
              </a:rPr>
              <a:t>location (LOC)</a:t>
            </a:r>
            <a:r>
              <a:rPr sz="1800" b="0" i="0">
                <a:solidFill>
                  <a:srgbClr val="1F2433"/>
                </a:solidFill>
                <a:latin typeface="Segoe UI"/>
                <a:cs typeface="Nirmala UI"/>
                <a:ea typeface="Nirmala UI"/>
              </a:rPr>
              <a:t>.</a:t>
            </a:r>
          </a:p>
        </p:txBody>
      </p:sp>
      <p:sp>
        <p:nvSpPr>
          <p:cNvPr id="10" name="Rounded Rectangle 9"/>
          <p:cNvSpPr/>
          <p:nvPr/>
        </p:nvSpPr>
        <p:spPr>
          <a:xfrm>
            <a:off x="502920" y="2240280"/>
            <a:ext cx="224028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76856"/>
            <a:ext cx="2240280" cy="384048"/>
          </a:xfrm>
          <a:prstGeom prst="rect">
            <a:avLst/>
          </a:prstGeom>
          <a:noFill/>
        </p:spPr>
        <p:txBody>
          <a:bodyPr wrap="square" anchor="ctr" lIns="45720" rIns="45720">
            <a:spAutoFit/>
          </a:bodyPr>
          <a:lstStyle/>
          <a:p>
            <a:pPr algn="ctr">
              <a:lnSpc>
                <a:spcPct val="110000"/>
              </a:lnSpc>
            </a:pPr>
            <a:r>
              <a:rPr sz="1300" b="0" i="0">
                <a:solidFill>
                  <a:srgbClr val="1F2433"/>
                </a:solidFill>
                <a:latin typeface="Nirmala UI"/>
                <a:cs typeface="Nirmala UI"/>
                <a:ea typeface="Nirmala UI"/>
              </a:rPr>
              <a:t>തിരുവനന്തപുരത്ത്</a:t>
            </a:r>
          </a:p>
        </p:txBody>
      </p:sp>
      <p:sp>
        <p:nvSpPr>
          <p:cNvPr id="12" name="Rounded Rectangle 11"/>
          <p:cNvSpPr/>
          <p:nvPr/>
        </p:nvSpPr>
        <p:spPr>
          <a:xfrm>
            <a:off x="594360" y="2788920"/>
            <a:ext cx="2057400" cy="34747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B-LOC</a:t>
            </a:r>
          </a:p>
        </p:txBody>
      </p:sp>
      <p:sp>
        <p:nvSpPr>
          <p:cNvPr id="13" name="Rounded Rectangle 12"/>
          <p:cNvSpPr/>
          <p:nvPr/>
        </p:nvSpPr>
        <p:spPr>
          <a:xfrm>
            <a:off x="2816352" y="2240280"/>
            <a:ext cx="86868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16352" y="2276856"/>
            <a:ext cx="868680" cy="384048"/>
          </a:xfrm>
          <a:prstGeom prst="rect">
            <a:avLst/>
          </a:prstGeom>
          <a:noFill/>
        </p:spPr>
        <p:txBody>
          <a:bodyPr wrap="square" anchor="ctr" lIns="45720" rIns="45720">
            <a:spAutoFit/>
          </a:bodyPr>
          <a:lstStyle/>
          <a:p>
            <a:pPr algn="ctr">
              <a:lnSpc>
                <a:spcPct val="110000"/>
              </a:lnSpc>
            </a:pPr>
            <a:r>
              <a:rPr sz="1300" b="0" i="0">
                <a:solidFill>
                  <a:srgbClr val="1F2433"/>
                </a:solidFill>
                <a:latin typeface="Nirmala UI"/>
                <a:cs typeface="Nirmala UI"/>
                <a:ea typeface="Nirmala UI"/>
              </a:rPr>
              <a:t>നടന്ന</a:t>
            </a:r>
          </a:p>
        </p:txBody>
      </p:sp>
      <p:sp>
        <p:nvSpPr>
          <p:cNvPr id="15" name="Rounded Rectangle 14"/>
          <p:cNvSpPr/>
          <p:nvPr/>
        </p:nvSpPr>
        <p:spPr>
          <a:xfrm>
            <a:off x="2907792" y="2788920"/>
            <a:ext cx="685800" cy="347472"/>
          </a:xfrm>
          <a:prstGeom prst="roundRect">
            <a:avLst>
              <a:gd name="adj" fmla="val 50000"/>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O</a:t>
            </a:r>
          </a:p>
        </p:txBody>
      </p:sp>
      <p:sp>
        <p:nvSpPr>
          <p:cNvPr id="16" name="Rounded Rectangle 15"/>
          <p:cNvSpPr/>
          <p:nvPr/>
        </p:nvSpPr>
        <p:spPr>
          <a:xfrm>
            <a:off x="3758184" y="2240280"/>
            <a:ext cx="109728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58184" y="2276856"/>
            <a:ext cx="1097280" cy="384048"/>
          </a:xfrm>
          <a:prstGeom prst="rect">
            <a:avLst/>
          </a:prstGeom>
          <a:noFill/>
        </p:spPr>
        <p:txBody>
          <a:bodyPr wrap="square" anchor="ctr" lIns="45720" rIns="45720">
            <a:spAutoFit/>
          </a:bodyPr>
          <a:lstStyle/>
          <a:p>
            <a:pPr algn="ctr">
              <a:lnSpc>
                <a:spcPct val="110000"/>
              </a:lnSpc>
            </a:pPr>
            <a:r>
              <a:rPr sz="1300" b="0" i="0">
                <a:solidFill>
                  <a:srgbClr val="1F2433"/>
                </a:solidFill>
                <a:latin typeface="Nirmala UI"/>
                <a:cs typeface="Nirmala UI"/>
                <a:ea typeface="Nirmala UI"/>
              </a:rPr>
              <a:t>ചടങ്ങിൽ</a:t>
            </a:r>
          </a:p>
        </p:txBody>
      </p:sp>
      <p:sp>
        <p:nvSpPr>
          <p:cNvPr id="18" name="Rounded Rectangle 17"/>
          <p:cNvSpPr/>
          <p:nvPr/>
        </p:nvSpPr>
        <p:spPr>
          <a:xfrm>
            <a:off x="3849624" y="2788920"/>
            <a:ext cx="914400" cy="347472"/>
          </a:xfrm>
          <a:prstGeom prst="roundRect">
            <a:avLst>
              <a:gd name="adj" fmla="val 50000"/>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O</a:t>
            </a:r>
          </a:p>
        </p:txBody>
      </p:sp>
      <p:sp>
        <p:nvSpPr>
          <p:cNvPr id="19" name="Rounded Rectangle 18"/>
          <p:cNvSpPr/>
          <p:nvPr/>
        </p:nvSpPr>
        <p:spPr>
          <a:xfrm>
            <a:off x="4928616" y="2240280"/>
            <a:ext cx="86868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8616" y="2276856"/>
            <a:ext cx="868680" cy="384048"/>
          </a:xfrm>
          <a:prstGeom prst="rect">
            <a:avLst/>
          </a:prstGeom>
          <a:noFill/>
        </p:spPr>
        <p:txBody>
          <a:bodyPr wrap="square" anchor="ctr" lIns="45720" rIns="45720">
            <a:spAutoFit/>
          </a:bodyPr>
          <a:lstStyle/>
          <a:p>
            <a:pPr algn="ctr">
              <a:lnSpc>
                <a:spcPct val="110000"/>
              </a:lnSpc>
            </a:pPr>
            <a:r>
              <a:rPr sz="1300" b="0" i="0">
                <a:solidFill>
                  <a:srgbClr val="1F2433"/>
                </a:solidFill>
                <a:latin typeface="Nirmala UI"/>
                <a:cs typeface="Nirmala UI"/>
                <a:ea typeface="Nirmala UI"/>
              </a:rPr>
              <a:t>കേരള</a:t>
            </a:r>
          </a:p>
        </p:txBody>
      </p:sp>
      <p:sp>
        <p:nvSpPr>
          <p:cNvPr id="21" name="Rounded Rectangle 20"/>
          <p:cNvSpPr/>
          <p:nvPr/>
        </p:nvSpPr>
        <p:spPr>
          <a:xfrm>
            <a:off x="5020056" y="2788920"/>
            <a:ext cx="685800" cy="34747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B-LOC</a:t>
            </a:r>
          </a:p>
        </p:txBody>
      </p:sp>
      <p:sp>
        <p:nvSpPr>
          <p:cNvPr id="22" name="Rounded Rectangle 21"/>
          <p:cNvSpPr/>
          <p:nvPr/>
        </p:nvSpPr>
        <p:spPr>
          <a:xfrm>
            <a:off x="5870448" y="2240280"/>
            <a:ext cx="146304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70448" y="2276856"/>
            <a:ext cx="1463040" cy="384048"/>
          </a:xfrm>
          <a:prstGeom prst="rect">
            <a:avLst/>
          </a:prstGeom>
          <a:noFill/>
        </p:spPr>
        <p:txBody>
          <a:bodyPr wrap="square" anchor="ctr" lIns="45720" rIns="45720">
            <a:spAutoFit/>
          </a:bodyPr>
          <a:lstStyle/>
          <a:p>
            <a:pPr algn="ctr">
              <a:lnSpc>
                <a:spcPct val="110000"/>
              </a:lnSpc>
            </a:pPr>
            <a:r>
              <a:rPr sz="1300" b="0" i="0">
                <a:solidFill>
                  <a:srgbClr val="1F2433"/>
                </a:solidFill>
                <a:latin typeface="Nirmala UI"/>
                <a:cs typeface="Nirmala UI"/>
                <a:ea typeface="Nirmala UI"/>
              </a:rPr>
              <a:t>മുഖ്യമന്ത്രി</a:t>
            </a:r>
          </a:p>
        </p:txBody>
      </p:sp>
      <p:sp>
        <p:nvSpPr>
          <p:cNvPr id="24" name="Rounded Rectangle 23"/>
          <p:cNvSpPr/>
          <p:nvPr/>
        </p:nvSpPr>
        <p:spPr>
          <a:xfrm>
            <a:off x="5961888" y="2788920"/>
            <a:ext cx="1280160" cy="347472"/>
          </a:xfrm>
          <a:prstGeom prst="roundRect">
            <a:avLst>
              <a:gd name="adj" fmla="val 50000"/>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O</a:t>
            </a:r>
          </a:p>
        </p:txBody>
      </p:sp>
      <p:sp>
        <p:nvSpPr>
          <p:cNvPr id="25" name="Rounded Rectangle 24"/>
          <p:cNvSpPr/>
          <p:nvPr/>
        </p:nvSpPr>
        <p:spPr>
          <a:xfrm>
            <a:off x="7406640" y="2240280"/>
            <a:ext cx="123444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0" y="2276856"/>
            <a:ext cx="1234440" cy="384048"/>
          </a:xfrm>
          <a:prstGeom prst="rect">
            <a:avLst/>
          </a:prstGeom>
          <a:noFill/>
        </p:spPr>
        <p:txBody>
          <a:bodyPr wrap="square" anchor="ctr" lIns="45720" rIns="45720">
            <a:spAutoFit/>
          </a:bodyPr>
          <a:lstStyle/>
          <a:p>
            <a:pPr algn="ctr">
              <a:lnSpc>
                <a:spcPct val="110000"/>
              </a:lnSpc>
            </a:pPr>
            <a:r>
              <a:rPr sz="1300" b="0" i="0">
                <a:solidFill>
                  <a:srgbClr val="1F2433"/>
                </a:solidFill>
                <a:latin typeface="Nirmala UI"/>
                <a:cs typeface="Nirmala UI"/>
                <a:ea typeface="Nirmala UI"/>
              </a:rPr>
              <a:t>പിണറായി</a:t>
            </a:r>
          </a:p>
        </p:txBody>
      </p:sp>
      <p:sp>
        <p:nvSpPr>
          <p:cNvPr id="27" name="Rounded Rectangle 26"/>
          <p:cNvSpPr/>
          <p:nvPr/>
        </p:nvSpPr>
        <p:spPr>
          <a:xfrm>
            <a:off x="7498080" y="2788920"/>
            <a:ext cx="1051560" cy="347472"/>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B-PER</a:t>
            </a:r>
          </a:p>
        </p:txBody>
      </p:sp>
      <p:sp>
        <p:nvSpPr>
          <p:cNvPr id="28" name="Rounded Rectangle 27"/>
          <p:cNvSpPr/>
          <p:nvPr/>
        </p:nvSpPr>
        <p:spPr>
          <a:xfrm>
            <a:off x="8714232" y="2240280"/>
            <a:ext cx="109728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14232" y="2276856"/>
            <a:ext cx="1097280" cy="384048"/>
          </a:xfrm>
          <a:prstGeom prst="rect">
            <a:avLst/>
          </a:prstGeom>
          <a:noFill/>
        </p:spPr>
        <p:txBody>
          <a:bodyPr wrap="square" anchor="ctr" lIns="45720" rIns="45720">
            <a:spAutoFit/>
          </a:bodyPr>
          <a:lstStyle/>
          <a:p>
            <a:pPr algn="ctr">
              <a:lnSpc>
                <a:spcPct val="110000"/>
              </a:lnSpc>
            </a:pPr>
            <a:r>
              <a:rPr sz="1300" b="0" i="0">
                <a:solidFill>
                  <a:srgbClr val="1F2433"/>
                </a:solidFill>
                <a:latin typeface="Nirmala UI"/>
                <a:cs typeface="Nirmala UI"/>
                <a:ea typeface="Nirmala UI"/>
              </a:rPr>
              <a:t>വിജയൻ</a:t>
            </a:r>
          </a:p>
        </p:txBody>
      </p:sp>
      <p:sp>
        <p:nvSpPr>
          <p:cNvPr id="30" name="Rounded Rectangle 29"/>
          <p:cNvSpPr/>
          <p:nvPr/>
        </p:nvSpPr>
        <p:spPr>
          <a:xfrm>
            <a:off x="8805672" y="2788920"/>
            <a:ext cx="914400" cy="347472"/>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I-PER</a:t>
            </a:r>
          </a:p>
        </p:txBody>
      </p:sp>
      <p:sp>
        <p:nvSpPr>
          <p:cNvPr id="31" name="Rounded Rectangle 30"/>
          <p:cNvSpPr/>
          <p:nvPr/>
        </p:nvSpPr>
        <p:spPr>
          <a:xfrm>
            <a:off x="9884664" y="2240280"/>
            <a:ext cx="141732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84664" y="2276856"/>
            <a:ext cx="1417320" cy="384048"/>
          </a:xfrm>
          <a:prstGeom prst="rect">
            <a:avLst/>
          </a:prstGeom>
          <a:noFill/>
        </p:spPr>
        <p:txBody>
          <a:bodyPr wrap="square" anchor="ctr" lIns="45720" rIns="45720">
            <a:spAutoFit/>
          </a:bodyPr>
          <a:lstStyle/>
          <a:p>
            <a:pPr algn="ctr">
              <a:lnSpc>
                <a:spcPct val="110000"/>
              </a:lnSpc>
            </a:pPr>
            <a:r>
              <a:rPr sz="1300" b="0" i="0">
                <a:solidFill>
                  <a:srgbClr val="1F2433"/>
                </a:solidFill>
                <a:latin typeface="Nirmala UI"/>
                <a:cs typeface="Nirmala UI"/>
                <a:ea typeface="Nirmala UI"/>
              </a:rPr>
              <a:t>സംസാരിച്ചു</a:t>
            </a:r>
          </a:p>
        </p:txBody>
      </p:sp>
      <p:sp>
        <p:nvSpPr>
          <p:cNvPr id="33" name="Rounded Rectangle 32"/>
          <p:cNvSpPr/>
          <p:nvPr/>
        </p:nvSpPr>
        <p:spPr>
          <a:xfrm>
            <a:off x="9976104" y="2788920"/>
            <a:ext cx="1234440" cy="347472"/>
          </a:xfrm>
          <a:prstGeom prst="roundRect">
            <a:avLst>
              <a:gd name="adj" fmla="val 50000"/>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O</a:t>
            </a:r>
          </a:p>
        </p:txBody>
      </p:sp>
      <p:sp>
        <p:nvSpPr>
          <p:cNvPr id="34" name="TextBox 33"/>
          <p:cNvSpPr txBox="1"/>
          <p:nvPr/>
        </p:nvSpPr>
        <p:spPr>
          <a:xfrm>
            <a:off x="502920" y="3291840"/>
            <a:ext cx="10972800" cy="365760"/>
          </a:xfrm>
          <a:prstGeom prst="rect">
            <a:avLst/>
          </a:prstGeom>
          <a:noFill/>
        </p:spPr>
        <p:txBody>
          <a:bodyPr wrap="square" anchor="t" lIns="45720" rIns="45720">
            <a:spAutoFit/>
          </a:bodyPr>
          <a:lstStyle/>
          <a:p>
            <a:pPr algn="l">
              <a:lnSpc>
                <a:spcPct val="110000"/>
              </a:lnSpc>
            </a:pPr>
            <a:r>
              <a:rPr sz="1300" b="0" i="1">
                <a:solidFill>
                  <a:srgbClr val="636A80"/>
                </a:solidFill>
                <a:latin typeface="Segoe UI"/>
                <a:cs typeface="Nirmala UI"/>
                <a:ea typeface="Nirmala UI"/>
              </a:rPr>
              <a:t>“At a function held in Thiruvananthapuram, Kerala Chief Minister Pinarayi Vijayan spoke.”  — real output of our model</a:t>
            </a:r>
          </a:p>
        </p:txBody>
      </p:sp>
      <p:sp>
        <p:nvSpPr>
          <p:cNvPr id="35" name="Rounded Rectangle 34"/>
          <p:cNvSpPr/>
          <p:nvPr/>
        </p:nvSpPr>
        <p:spPr>
          <a:xfrm>
            <a:off x="502920" y="3840480"/>
            <a:ext cx="5486400" cy="242316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977640"/>
            <a:ext cx="502920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Sequence labelling with IOB2 tags</a:t>
            </a:r>
          </a:p>
        </p:txBody>
      </p:sp>
      <p:sp>
        <p:nvSpPr>
          <p:cNvPr id="37" name="TextBox 36"/>
          <p:cNvSpPr txBox="1"/>
          <p:nvPr/>
        </p:nvSpPr>
        <p:spPr>
          <a:xfrm>
            <a:off x="731520" y="4343400"/>
            <a:ext cx="5120640" cy="1920240"/>
          </a:xfrm>
          <a:prstGeom prst="rect">
            <a:avLst/>
          </a:prstGeom>
          <a:noFill/>
        </p:spPr>
        <p:txBody>
          <a:bodyPr wrap="square" anchor="t" lIns="45720" rIns="45720">
            <a:spAutoFit/>
          </a:bodyPr>
          <a:lstStyle/>
          <a:p>
            <a:pPr algn="l">
              <a:lnSpc>
                <a:spcPct val="110000"/>
              </a:lnSpc>
              <a:spcAft>
                <a:spcPts val="4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B-X </a:t>
            </a:r>
            <a:r>
              <a:rPr sz="1400" b="0" i="0">
                <a:solidFill>
                  <a:srgbClr val="1F2433"/>
                </a:solidFill>
                <a:latin typeface="Segoe UI"/>
                <a:cs typeface="Nirmala UI"/>
                <a:ea typeface="Nirmala UI"/>
              </a:rPr>
              <a:t>first word of an entity of type X</a:t>
            </a:r>
          </a:p>
          <a:p>
            <a:pPr algn="l">
              <a:lnSpc>
                <a:spcPct val="110000"/>
              </a:lnSpc>
              <a:spcAft>
                <a:spcPts val="4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I-X </a:t>
            </a:r>
            <a:r>
              <a:rPr sz="1400" b="0" i="0">
                <a:solidFill>
                  <a:srgbClr val="1F2433"/>
                </a:solidFill>
                <a:latin typeface="Segoe UI"/>
                <a:cs typeface="Nirmala UI"/>
                <a:ea typeface="Nirmala UI"/>
              </a:rPr>
              <a:t>later word inside the same entity</a:t>
            </a:r>
          </a:p>
          <a:p>
            <a:pPr algn="l">
              <a:lnSpc>
                <a:spcPct val="110000"/>
              </a:lnSpc>
              <a:spcAft>
                <a:spcPts val="4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O </a:t>
            </a:r>
            <a:r>
              <a:rPr sz="1400" b="0" i="0">
                <a:solidFill>
                  <a:srgbClr val="1F2433"/>
                </a:solidFill>
                <a:latin typeface="Segoe UI"/>
                <a:cs typeface="Nirmala UI"/>
                <a:ea typeface="Nirmala UI"/>
              </a:rPr>
              <a:t>not part of any name</a:t>
            </a:r>
          </a:p>
          <a:p>
            <a:pPr algn="l">
              <a:lnSpc>
                <a:spcPct val="110000"/>
              </a:lnSpc>
              <a:spcAft>
                <a:spcPts val="4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7 tags: </a:t>
            </a:r>
            <a:r>
              <a:rPr sz="1400" b="0" i="0">
                <a:solidFill>
                  <a:srgbClr val="1F2433"/>
                </a:solidFill>
                <a:latin typeface="Segoe UI"/>
                <a:cs typeface="Nirmala UI"/>
                <a:ea typeface="Nirmala UI"/>
              </a:rPr>
              <a:t>O, B/I-PER, B/I-ORG, B/I-LOC</a:t>
            </a:r>
          </a:p>
          <a:p>
            <a:pPr algn="l">
              <a:lnSpc>
                <a:spcPct val="110000"/>
              </a:lnSpc>
              <a:spcAft>
                <a:spcPts val="4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Rule: </a:t>
            </a:r>
            <a:r>
              <a:rPr sz="1400" b="0" i="0">
                <a:solidFill>
                  <a:srgbClr val="1F2433"/>
                </a:solidFill>
                <a:latin typeface="Segoe UI"/>
                <a:cs typeface="Nirmala UI"/>
                <a:ea typeface="Nirmala UI"/>
              </a:rPr>
              <a:t>I-X may only follow B-X or I-X</a:t>
            </a:r>
          </a:p>
        </p:txBody>
      </p:sp>
      <p:sp>
        <p:nvSpPr>
          <p:cNvPr id="38" name="Rounded Rectangle 37"/>
          <p:cNvSpPr/>
          <p:nvPr/>
        </p:nvSpPr>
        <p:spPr>
          <a:xfrm>
            <a:off x="6217920" y="3840480"/>
            <a:ext cx="5468112" cy="242316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3977640"/>
            <a:ext cx="5010912"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Why it matters</a:t>
            </a:r>
          </a:p>
        </p:txBody>
      </p:sp>
      <p:sp>
        <p:nvSpPr>
          <p:cNvPr id="40" name="TextBox 39"/>
          <p:cNvSpPr txBox="1"/>
          <p:nvPr/>
        </p:nvSpPr>
        <p:spPr>
          <a:xfrm>
            <a:off x="6446520" y="4343400"/>
            <a:ext cx="5120640" cy="1920240"/>
          </a:xfrm>
          <a:prstGeom prst="rect">
            <a:avLst/>
          </a:prstGeom>
          <a:noFill/>
        </p:spPr>
        <p:txBody>
          <a:bodyPr wrap="square" anchor="t" lIns="45720" rIns="45720">
            <a:spAutoFit/>
          </a:bodyPr>
          <a:lstStyle/>
          <a:p>
            <a:pPr algn="l">
              <a:lnSpc>
                <a:spcPct val="110000"/>
              </a:lnSpc>
              <a:spcAft>
                <a:spcPts val="4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First step of information extraction, search and question answering</a:t>
            </a:r>
          </a:p>
          <a:p>
            <a:pPr algn="l">
              <a:lnSpc>
                <a:spcPct val="110000"/>
              </a:lnSpc>
              <a:spcAft>
                <a:spcPts val="4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Indexing Malayalam news by people and places; knowledge graphs</a:t>
            </a:r>
          </a:p>
          <a:p>
            <a:pPr algn="l">
              <a:lnSpc>
                <a:spcPct val="110000"/>
              </a:lnSpc>
              <a:spcAft>
                <a:spcPts val="4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Redacting names in legal / government documents</a:t>
            </a:r>
          </a:p>
          <a:p>
            <a:pPr algn="l">
              <a:lnSpc>
                <a:spcPct val="110000"/>
              </a:lnSpc>
              <a:spcAft>
                <a:spcPts val="4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~35 million Malayalam speakers, very few NLP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MOTIVATION</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Why Malayalam NER is hard</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03</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3</a:t>
            </a:r>
          </a:p>
        </p:txBody>
      </p:sp>
      <p:sp>
        <p:nvSpPr>
          <p:cNvPr id="9" name="Rounded Rectangle 8"/>
          <p:cNvSpPr/>
          <p:nvPr/>
        </p:nvSpPr>
        <p:spPr>
          <a:xfrm>
            <a:off x="502920" y="1371600"/>
            <a:ext cx="5486400" cy="228600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502920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No capital letters</a:t>
            </a:r>
          </a:p>
        </p:txBody>
      </p:sp>
      <p:sp>
        <p:nvSpPr>
          <p:cNvPr id="11" name="TextBox 10"/>
          <p:cNvSpPr txBox="1"/>
          <p:nvPr/>
        </p:nvSpPr>
        <p:spPr>
          <a:xfrm>
            <a:off x="731520" y="1965960"/>
            <a:ext cx="5029200" cy="822960"/>
          </a:xfrm>
          <a:prstGeom prst="rect">
            <a:avLst/>
          </a:prstGeom>
          <a:noFill/>
        </p:spPr>
        <p:txBody>
          <a:bodyPr wrap="square" anchor="t" lIns="45720" rIns="45720">
            <a:spAutoFit/>
          </a:bodyPr>
          <a:lstStyle/>
          <a:p>
            <a:pPr algn="l">
              <a:lnSpc>
                <a:spcPct val="110000"/>
              </a:lnSpc>
            </a:pPr>
            <a:r>
              <a:rPr sz="1400" b="0" i="0">
                <a:solidFill>
                  <a:srgbClr val="1F2433"/>
                </a:solidFill>
                <a:latin typeface="Segoe UI"/>
                <a:cs typeface="Nirmala UI"/>
                <a:ea typeface="Nirmala UI"/>
              </a:rPr>
              <a:t>English NER leans on “Apple” vs “apple”. Malayalam script has no case, so the strongest cue is missing.</a:t>
            </a:r>
          </a:p>
        </p:txBody>
      </p:sp>
      <p:sp>
        <p:nvSpPr>
          <p:cNvPr id="12" name="Rounded Rectangle 11"/>
          <p:cNvSpPr/>
          <p:nvPr/>
        </p:nvSpPr>
        <p:spPr>
          <a:xfrm>
            <a:off x="6217920" y="1371600"/>
            <a:ext cx="5486400" cy="228600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508760"/>
            <a:ext cx="502920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Agglutination</a:t>
            </a:r>
          </a:p>
        </p:txBody>
      </p:sp>
      <p:sp>
        <p:nvSpPr>
          <p:cNvPr id="14" name="TextBox 13"/>
          <p:cNvSpPr txBox="1"/>
          <p:nvPr/>
        </p:nvSpPr>
        <p:spPr>
          <a:xfrm>
            <a:off x="6446520" y="1965960"/>
            <a:ext cx="5029200" cy="822960"/>
          </a:xfrm>
          <a:prstGeom prst="rect">
            <a:avLst/>
          </a:prstGeom>
          <a:noFill/>
        </p:spPr>
        <p:txBody>
          <a:bodyPr wrap="square" anchor="t" lIns="45720" rIns="45720">
            <a:spAutoFit/>
          </a:bodyPr>
          <a:lstStyle/>
          <a:p>
            <a:pPr algn="l">
              <a:lnSpc>
                <a:spcPct val="110000"/>
              </a:lnSpc>
            </a:pPr>
            <a:r>
              <a:rPr sz="1400" b="0" i="0">
                <a:solidFill>
                  <a:srgbClr val="1F2433"/>
                </a:solidFill>
                <a:latin typeface="Segoe UI"/>
                <a:cs typeface="Nirmala UI"/>
                <a:ea typeface="Nirmala UI"/>
              </a:rPr>
              <a:t>Case markers fuse onto names, so one place has many forms:</a:t>
            </a:r>
          </a:p>
        </p:txBody>
      </p:sp>
      <p:sp>
        <p:nvSpPr>
          <p:cNvPr id="15" name="TextBox 14"/>
          <p:cNvSpPr txBox="1"/>
          <p:nvPr/>
        </p:nvSpPr>
        <p:spPr>
          <a:xfrm>
            <a:off x="6537959" y="2560320"/>
            <a:ext cx="2926080" cy="329184"/>
          </a:xfrm>
          <a:prstGeom prst="rect">
            <a:avLst/>
          </a:prstGeom>
          <a:noFill/>
        </p:spPr>
        <p:txBody>
          <a:bodyPr wrap="square" anchor="t" lIns="45720" rIns="45720">
            <a:spAutoFit/>
          </a:bodyPr>
          <a:lstStyle/>
          <a:p>
            <a:pPr algn="l">
              <a:lnSpc>
                <a:spcPct val="110000"/>
              </a:lnSpc>
            </a:pPr>
            <a:r>
              <a:rPr sz="1300" b="1" i="0">
                <a:solidFill>
                  <a:srgbClr val="1F2433"/>
                </a:solidFill>
                <a:latin typeface="Nirmala UI"/>
                <a:cs typeface="Nirmala UI"/>
                <a:ea typeface="Nirmala UI"/>
              </a:rPr>
              <a:t>തിരുവനന്തപുരം</a:t>
            </a:r>
          </a:p>
        </p:txBody>
      </p:sp>
      <p:sp>
        <p:nvSpPr>
          <p:cNvPr id="16" name="TextBox 15"/>
          <p:cNvSpPr txBox="1"/>
          <p:nvPr/>
        </p:nvSpPr>
        <p:spPr>
          <a:xfrm>
            <a:off x="9509760" y="2578608"/>
            <a:ext cx="2103120" cy="329184"/>
          </a:xfrm>
          <a:prstGeom prst="rect">
            <a:avLst/>
          </a:prstGeom>
          <a:noFill/>
        </p:spPr>
        <p:txBody>
          <a:bodyPr wrap="square" anchor="t" lIns="45720" rIns="45720">
            <a:spAutoFit/>
          </a:bodyPr>
          <a:lstStyle/>
          <a:p>
            <a:pPr algn="l">
              <a:lnSpc>
                <a:spcPct val="110000"/>
              </a:lnSpc>
            </a:pPr>
            <a:r>
              <a:rPr sz="1200" b="0" i="0">
                <a:solidFill>
                  <a:srgbClr val="636A80"/>
                </a:solidFill>
                <a:latin typeface="Segoe UI"/>
                <a:cs typeface="Nirmala UI"/>
                <a:ea typeface="Nirmala UI"/>
              </a:rPr>
              <a:t>Thiruvananthapuram</a:t>
            </a:r>
          </a:p>
        </p:txBody>
      </p:sp>
      <p:sp>
        <p:nvSpPr>
          <p:cNvPr id="17" name="TextBox 16"/>
          <p:cNvSpPr txBox="1"/>
          <p:nvPr/>
        </p:nvSpPr>
        <p:spPr>
          <a:xfrm>
            <a:off x="6537959" y="2898648"/>
            <a:ext cx="2926080" cy="329184"/>
          </a:xfrm>
          <a:prstGeom prst="rect">
            <a:avLst/>
          </a:prstGeom>
          <a:noFill/>
        </p:spPr>
        <p:txBody>
          <a:bodyPr wrap="square" anchor="t" lIns="45720" rIns="45720">
            <a:spAutoFit/>
          </a:bodyPr>
          <a:lstStyle/>
          <a:p>
            <a:pPr algn="l">
              <a:lnSpc>
                <a:spcPct val="110000"/>
              </a:lnSpc>
            </a:pPr>
            <a:r>
              <a:rPr sz="1300" b="1" i="0">
                <a:solidFill>
                  <a:srgbClr val="1F2433"/>
                </a:solidFill>
                <a:latin typeface="Nirmala UI"/>
                <a:cs typeface="Nirmala UI"/>
                <a:ea typeface="Nirmala UI"/>
              </a:rPr>
              <a:t>തിരുവനന്തപുരത്ത്</a:t>
            </a:r>
          </a:p>
        </p:txBody>
      </p:sp>
      <p:sp>
        <p:nvSpPr>
          <p:cNvPr id="18" name="TextBox 17"/>
          <p:cNvSpPr txBox="1"/>
          <p:nvPr/>
        </p:nvSpPr>
        <p:spPr>
          <a:xfrm>
            <a:off x="9509760" y="2916936"/>
            <a:ext cx="2103120" cy="329184"/>
          </a:xfrm>
          <a:prstGeom prst="rect">
            <a:avLst/>
          </a:prstGeom>
          <a:noFill/>
        </p:spPr>
        <p:txBody>
          <a:bodyPr wrap="square" anchor="t" lIns="45720" rIns="45720">
            <a:spAutoFit/>
          </a:bodyPr>
          <a:lstStyle/>
          <a:p>
            <a:pPr algn="l">
              <a:lnSpc>
                <a:spcPct val="110000"/>
              </a:lnSpc>
            </a:pPr>
            <a:r>
              <a:rPr sz="1200" b="0" i="0">
                <a:solidFill>
                  <a:srgbClr val="636A80"/>
                </a:solidFill>
                <a:latin typeface="Segoe UI"/>
                <a:cs typeface="Nirmala UI"/>
                <a:ea typeface="Nirmala UI"/>
              </a:rPr>
              <a:t>in Thiruvananthapuram</a:t>
            </a:r>
          </a:p>
        </p:txBody>
      </p:sp>
      <p:sp>
        <p:nvSpPr>
          <p:cNvPr id="19" name="TextBox 18"/>
          <p:cNvSpPr txBox="1"/>
          <p:nvPr/>
        </p:nvSpPr>
        <p:spPr>
          <a:xfrm>
            <a:off x="6537959" y="3236976"/>
            <a:ext cx="2926080" cy="329184"/>
          </a:xfrm>
          <a:prstGeom prst="rect">
            <a:avLst/>
          </a:prstGeom>
          <a:noFill/>
        </p:spPr>
        <p:txBody>
          <a:bodyPr wrap="square" anchor="t" lIns="45720" rIns="45720">
            <a:spAutoFit/>
          </a:bodyPr>
          <a:lstStyle/>
          <a:p>
            <a:pPr algn="l">
              <a:lnSpc>
                <a:spcPct val="110000"/>
              </a:lnSpc>
            </a:pPr>
            <a:r>
              <a:rPr sz="1300" b="1" i="0">
                <a:solidFill>
                  <a:srgbClr val="1F2433"/>
                </a:solidFill>
                <a:latin typeface="Nirmala UI"/>
                <a:cs typeface="Nirmala UI"/>
                <a:ea typeface="Nirmala UI"/>
              </a:rPr>
              <a:t>തിരുവനന്തപുരത്തേക്ക്</a:t>
            </a:r>
          </a:p>
        </p:txBody>
      </p:sp>
      <p:sp>
        <p:nvSpPr>
          <p:cNvPr id="20" name="TextBox 19"/>
          <p:cNvSpPr txBox="1"/>
          <p:nvPr/>
        </p:nvSpPr>
        <p:spPr>
          <a:xfrm>
            <a:off x="9509760" y="3255264"/>
            <a:ext cx="2103120" cy="329184"/>
          </a:xfrm>
          <a:prstGeom prst="rect">
            <a:avLst/>
          </a:prstGeom>
          <a:noFill/>
        </p:spPr>
        <p:txBody>
          <a:bodyPr wrap="square" anchor="t" lIns="45720" rIns="45720">
            <a:spAutoFit/>
          </a:bodyPr>
          <a:lstStyle/>
          <a:p>
            <a:pPr algn="l">
              <a:lnSpc>
                <a:spcPct val="110000"/>
              </a:lnSpc>
            </a:pPr>
            <a:r>
              <a:rPr sz="1200" b="0" i="0">
                <a:solidFill>
                  <a:srgbClr val="636A80"/>
                </a:solidFill>
                <a:latin typeface="Segoe UI"/>
                <a:cs typeface="Nirmala UI"/>
                <a:ea typeface="Nirmala UI"/>
              </a:rPr>
              <a:t>to Thiruvananthapuram</a:t>
            </a:r>
          </a:p>
        </p:txBody>
      </p:sp>
      <p:sp>
        <p:nvSpPr>
          <p:cNvPr id="21" name="Rounded Rectangle 20"/>
          <p:cNvSpPr/>
          <p:nvPr/>
        </p:nvSpPr>
        <p:spPr>
          <a:xfrm>
            <a:off x="502920" y="3886200"/>
            <a:ext cx="5486400" cy="228600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023360"/>
            <a:ext cx="502920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Ambiguity</a:t>
            </a:r>
          </a:p>
        </p:txBody>
      </p:sp>
      <p:sp>
        <p:nvSpPr>
          <p:cNvPr id="23" name="TextBox 22"/>
          <p:cNvSpPr txBox="1"/>
          <p:nvPr/>
        </p:nvSpPr>
        <p:spPr>
          <a:xfrm>
            <a:off x="731520" y="4480560"/>
            <a:ext cx="5029200" cy="822960"/>
          </a:xfrm>
          <a:prstGeom prst="rect">
            <a:avLst/>
          </a:prstGeom>
          <a:noFill/>
        </p:spPr>
        <p:txBody>
          <a:bodyPr wrap="square" anchor="t" lIns="45720" rIns="45720">
            <a:spAutoFit/>
          </a:bodyPr>
          <a:lstStyle/>
          <a:p>
            <a:pPr algn="l">
              <a:lnSpc>
                <a:spcPct val="110000"/>
              </a:lnSpc>
            </a:pPr>
            <a:r>
              <a:rPr sz="1400" b="0" i="0">
                <a:solidFill>
                  <a:srgbClr val="1F2433"/>
                </a:solidFill>
                <a:latin typeface="Segoe UI"/>
                <a:cs typeface="Nirmala UI"/>
                <a:ea typeface="Nirmala UI"/>
              </a:rPr>
              <a:t>Names are often common words, and ORG names start with places: Kochi Metro Rail Limited, Kerala Blasters (ORG, not LOC).</a:t>
            </a:r>
          </a:p>
        </p:txBody>
      </p:sp>
      <p:sp>
        <p:nvSpPr>
          <p:cNvPr id="24" name="Rounded Rectangle 23"/>
          <p:cNvSpPr/>
          <p:nvPr/>
        </p:nvSpPr>
        <p:spPr>
          <a:xfrm>
            <a:off x="6217920" y="3886200"/>
            <a:ext cx="5486400" cy="228600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023360"/>
            <a:ext cx="502920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Low resource</a:t>
            </a:r>
          </a:p>
        </p:txBody>
      </p:sp>
      <p:sp>
        <p:nvSpPr>
          <p:cNvPr id="26" name="TextBox 25"/>
          <p:cNvSpPr txBox="1"/>
          <p:nvPr/>
        </p:nvSpPr>
        <p:spPr>
          <a:xfrm>
            <a:off x="6446520" y="4480560"/>
            <a:ext cx="5029200" cy="822960"/>
          </a:xfrm>
          <a:prstGeom prst="rect">
            <a:avLst/>
          </a:prstGeom>
          <a:noFill/>
        </p:spPr>
        <p:txBody>
          <a:bodyPr wrap="square" anchor="t" lIns="45720" rIns="45720">
            <a:spAutoFit/>
          </a:bodyPr>
          <a:lstStyle/>
          <a:p>
            <a:pPr algn="l">
              <a:lnSpc>
                <a:spcPct val="110000"/>
              </a:lnSpc>
            </a:pPr>
            <a:r>
              <a:rPr sz="1400" b="0" i="0">
                <a:solidFill>
                  <a:srgbClr val="1F2433"/>
                </a:solidFill>
                <a:latin typeface="Segoe UI"/>
                <a:cs typeface="Nirmala UI"/>
                <a:ea typeface="Nirmala UI"/>
              </a:rPr>
              <a:t>Earlier systems trained on a few hundred hand-labelled sentences. Naamapadam (2023) changed this.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LITERATURE</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Base paper and the gaps we address</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04</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4</a:t>
            </a:r>
          </a:p>
        </p:txBody>
      </p:sp>
      <p:sp>
        <p:nvSpPr>
          <p:cNvPr id="9" name="TextBox 8"/>
          <p:cNvSpPr txBox="1"/>
          <p:nvPr/>
        </p:nvSpPr>
        <p:spPr>
          <a:xfrm>
            <a:off x="502920" y="1280160"/>
            <a:ext cx="11155680" cy="640080"/>
          </a:xfrm>
          <a:prstGeom prst="rect">
            <a:avLst/>
          </a:prstGeom>
          <a:noFill/>
        </p:spPr>
        <p:txBody>
          <a:bodyPr wrap="square" anchor="t" lIns="45720" rIns="45720">
            <a:spAutoFit/>
          </a:bodyPr>
          <a:lstStyle/>
          <a:p>
            <a:pPr algn="l">
              <a:lnSpc>
                <a:spcPct val="110000"/>
              </a:lnSpc>
            </a:pPr>
            <a:r>
              <a:rPr sz="1500" b="1" i="0">
                <a:solidFill>
                  <a:srgbClr val="1F2433"/>
                </a:solidFill>
                <a:latin typeface="Segoe UI"/>
                <a:cs typeface="Nirmala UI"/>
                <a:ea typeface="Nirmala UI"/>
              </a:rPr>
              <a:t>Bharathi Mohan et al., </a:t>
            </a:r>
            <a:r>
              <a:rPr sz="1500" b="0" i="1">
                <a:solidFill>
                  <a:srgbClr val="1F2433"/>
                </a:solidFill>
                <a:latin typeface="Segoe UI"/>
                <a:cs typeface="Nirmala UI"/>
                <a:ea typeface="Nirmala UI"/>
              </a:rPr>
              <a:t>“Fine-Tuned BERT Based Multilingual Model for NER in Native Indian Languages”, IEEE EASCT 2023. </a:t>
            </a:r>
            <a:r>
              <a:rPr sz="1500" b="0" i="0">
                <a:solidFill>
                  <a:srgbClr val="1F2433"/>
                </a:solidFill>
                <a:latin typeface="Segoe UI"/>
                <a:cs typeface="Nirmala UI"/>
                <a:ea typeface="Nirmala UI"/>
              </a:rPr>
              <a:t>mBERT + softmax on WikiAnn (Tamil, Malayalam, Marathi, Bengali).</a:t>
            </a:r>
          </a:p>
        </p:txBody>
      </p:sp>
      <p:sp>
        <p:nvSpPr>
          <p:cNvPr id="10" name="TextBox 9"/>
          <p:cNvSpPr txBox="1"/>
          <p:nvPr/>
        </p:nvSpPr>
        <p:spPr>
          <a:xfrm>
            <a:off x="502920" y="1965960"/>
            <a:ext cx="4023360" cy="365760"/>
          </a:xfrm>
          <a:prstGeom prst="rect">
            <a:avLst/>
          </a:prstGeom>
          <a:noFill/>
        </p:spPr>
        <p:txBody>
          <a:bodyPr wrap="square" anchor="t" lIns="45720" rIns="45720">
            <a:spAutoFit/>
          </a:bodyPr>
          <a:lstStyle/>
          <a:p>
            <a:pPr algn="l">
              <a:lnSpc>
                <a:spcPct val="110000"/>
              </a:lnSpc>
            </a:pPr>
            <a:r>
              <a:rPr sz="1500" b="1" i="0">
                <a:solidFill>
                  <a:srgbClr val="3F51B5"/>
                </a:solidFill>
                <a:latin typeface="Segoe UI"/>
                <a:cs typeface="Nirmala UI"/>
                <a:ea typeface="Nirmala UI"/>
              </a:rPr>
              <a:t>Their Malayalam results</a:t>
            </a:r>
          </a:p>
        </p:txBody>
      </p:sp>
      <p:graphicFrame>
        <p:nvGraphicFramePr>
          <p:cNvPr id="11" name="Table 10"/>
          <p:cNvGraphicFramePr>
            <a:graphicFrameLocks noGrp="1"/>
          </p:cNvGraphicFramePr>
          <p:nvPr/>
        </p:nvGraphicFramePr>
        <p:xfrm>
          <a:off x="502920" y="2377440"/>
          <a:ext cx="4023360" cy="1920240"/>
        </p:xfrm>
        <a:graphic>
          <a:graphicData uri="http://schemas.openxmlformats.org/drawingml/2006/table">
            <a:tbl>
              <a:tblPr firstRow="0" bandRow="0">
                <a:tableStyleId>{5940675A-B579-460E-94D1-54222C63F5DA}</a:tableStyleId>
              </a:tblPr>
              <a:tblGrid>
                <a:gridCol w="1341120"/>
                <a:gridCol w="894080"/>
                <a:gridCol w="894080"/>
                <a:gridCol w="894080"/>
              </a:tblGrid>
              <a:tr h="384048">
                <a:tc>
                  <a:txBody>
                    <a:bodyPr wrap="square"/>
                    <a:lstStyle/>
                    <a:p>
                      <a:pPr algn="l">
                        <a:lnSpc>
                          <a:spcPct val="110000"/>
                        </a:lnSpc>
                      </a:pPr>
                      <a:r>
                        <a:rPr sz="1300" b="1" i="0">
                          <a:solidFill>
                            <a:srgbClr val="FFFFFF"/>
                          </a:solidFill>
                          <a:latin typeface="Segoe UI"/>
                          <a:cs typeface="Nirmala UI"/>
                          <a:ea typeface="Nirmala UI"/>
                        </a:rPr>
                        <a:t>Entity</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P</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R</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F1</a:t>
                      </a:r>
                    </a:p>
                  </a:txBody>
                  <a:tcPr marL="73152" marR="73152" marT="27432" marB="27432" anchor="ctr">
                    <a:solidFill>
                      <a:srgbClr val="3F51B5"/>
                    </a:solidFill>
                  </a:tcPr>
                </a:tc>
              </a:tr>
              <a:tr h="384048">
                <a:tc>
                  <a:txBody>
                    <a:bodyPr wrap="square"/>
                    <a:lstStyle/>
                    <a:p>
                      <a:pPr algn="l">
                        <a:lnSpc>
                          <a:spcPct val="110000"/>
                        </a:lnSpc>
                      </a:pPr>
                      <a:r>
                        <a:rPr sz="1300" b="0" i="0">
                          <a:solidFill>
                            <a:srgbClr val="1F2433"/>
                          </a:solidFill>
                          <a:latin typeface="Segoe UI"/>
                          <a:cs typeface="Nirmala UI"/>
                          <a:ea typeface="Nirmala UI"/>
                        </a:rPr>
                        <a:t>LOC</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79.8</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91.26</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85.50</a:t>
                      </a:r>
                    </a:p>
                  </a:txBody>
                  <a:tcPr marL="73152" marR="73152" marT="27432" marB="27432" anchor="ctr">
                    <a:solidFill>
                      <a:srgbClr val="FFFFFF"/>
                    </a:solidFill>
                  </a:tcPr>
                </a:tc>
              </a:tr>
              <a:tr h="384048">
                <a:tc>
                  <a:txBody>
                    <a:bodyPr wrap="square"/>
                    <a:lstStyle/>
                    <a:p>
                      <a:pPr algn="l">
                        <a:lnSpc>
                          <a:spcPct val="110000"/>
                        </a:lnSpc>
                      </a:pPr>
                      <a:r>
                        <a:rPr sz="1300" b="0" i="0">
                          <a:solidFill>
                            <a:srgbClr val="1F2433"/>
                          </a:solidFill>
                          <a:latin typeface="Segoe UI"/>
                          <a:cs typeface="Nirmala UI"/>
                          <a:ea typeface="Nirmala UI"/>
                        </a:rPr>
                        <a:t>ORG</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81.3</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76.5</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78.8</a:t>
                      </a:r>
                    </a:p>
                  </a:txBody>
                  <a:tcPr marL="73152" marR="73152" marT="27432" marB="27432" anchor="ctr">
                    <a:solidFill>
                      <a:srgbClr val="F4F5FB"/>
                    </a:solidFill>
                  </a:tcPr>
                </a:tc>
              </a:tr>
              <a:tr h="384048">
                <a:tc>
                  <a:txBody>
                    <a:bodyPr wrap="square"/>
                    <a:lstStyle/>
                    <a:p>
                      <a:pPr algn="l">
                        <a:lnSpc>
                          <a:spcPct val="110000"/>
                        </a:lnSpc>
                      </a:pPr>
                      <a:r>
                        <a:rPr sz="1300" b="0" i="0">
                          <a:solidFill>
                            <a:srgbClr val="1F2433"/>
                          </a:solidFill>
                          <a:latin typeface="Segoe UI"/>
                          <a:cs typeface="Nirmala UI"/>
                          <a:ea typeface="Nirmala UI"/>
                        </a:rPr>
                        <a:t>PER</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86.2</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84.4</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85.3</a:t>
                      </a:r>
                    </a:p>
                  </a:txBody>
                  <a:tcPr marL="73152" marR="73152" marT="27432" marB="27432" anchor="ctr">
                    <a:solidFill>
                      <a:srgbClr val="FFFFFF"/>
                    </a:solidFill>
                  </a:tcPr>
                </a:tc>
              </a:tr>
              <a:tr h="384048">
                <a:tc>
                  <a:txBody>
                    <a:bodyPr wrap="square"/>
                    <a:lstStyle/>
                    <a:p>
                      <a:pPr algn="l">
                        <a:lnSpc>
                          <a:spcPct val="110000"/>
                        </a:lnSpc>
                      </a:pPr>
                      <a:r>
                        <a:rPr sz="1300" b="1" i="0">
                          <a:solidFill>
                            <a:srgbClr val="1F2433"/>
                          </a:solidFill>
                          <a:latin typeface="Segoe UI"/>
                          <a:cs typeface="Nirmala UI"/>
                          <a:ea typeface="Nirmala UI"/>
                        </a:rPr>
                        <a:t>Overall</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82.1</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82.1</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82.2</a:t>
                      </a:r>
                    </a:p>
                  </a:txBody>
                  <a:tcPr marL="73152" marR="73152" marT="27432" marB="27432" anchor="ctr">
                    <a:solidFill>
                      <a:srgbClr val="F4F5FB"/>
                    </a:solidFill>
                  </a:tcPr>
                </a:tc>
              </a:tr>
            </a:tbl>
          </a:graphicData>
        </a:graphic>
      </p:graphicFrame>
      <p:graphicFrame>
        <p:nvGraphicFramePr>
          <p:cNvPr id="12" name="Table 11"/>
          <p:cNvGraphicFramePr>
            <a:graphicFrameLocks noGrp="1"/>
          </p:cNvGraphicFramePr>
          <p:nvPr/>
        </p:nvGraphicFramePr>
        <p:xfrm>
          <a:off x="4846320" y="1965960"/>
          <a:ext cx="6839711" cy="3401568"/>
        </p:xfrm>
        <a:graphic>
          <a:graphicData uri="http://schemas.openxmlformats.org/drawingml/2006/table">
            <a:tbl>
              <a:tblPr firstRow="0" bandRow="0">
                <a:tableStyleId>{5940675A-B579-460E-94D1-54222C63F5DA}</a:tableStyleId>
              </a:tblPr>
              <a:tblGrid>
                <a:gridCol w="3582706"/>
                <a:gridCol w="3257005"/>
              </a:tblGrid>
              <a:tr h="566928">
                <a:tc>
                  <a:txBody>
                    <a:bodyPr wrap="square"/>
                    <a:lstStyle/>
                    <a:p>
                      <a:pPr algn="l">
                        <a:lnSpc>
                          <a:spcPct val="110000"/>
                        </a:lnSpc>
                      </a:pPr>
                      <a:r>
                        <a:rPr sz="1200" b="1" i="0">
                          <a:solidFill>
                            <a:srgbClr val="FFFFFF"/>
                          </a:solidFill>
                          <a:latin typeface="Segoe UI"/>
                          <a:cs typeface="Nirmala UI"/>
                          <a:ea typeface="Nirmala UI"/>
                        </a:rPr>
                        <a:t>Gap in the base paper</a:t>
                      </a:r>
                    </a:p>
                  </a:txBody>
                  <a:tcPr marL="73152" marR="73152" marT="27432" marB="27432" anchor="ctr">
                    <a:solidFill>
                      <a:srgbClr val="3F51B5"/>
                    </a:solidFill>
                  </a:tcPr>
                </a:tc>
                <a:tc>
                  <a:txBody>
                    <a:bodyPr wrap="square"/>
                    <a:lstStyle/>
                    <a:p>
                      <a:pPr algn="ctr">
                        <a:lnSpc>
                          <a:spcPct val="110000"/>
                        </a:lnSpc>
                      </a:pPr>
                      <a:r>
                        <a:rPr sz="1200" b="1" i="0">
                          <a:solidFill>
                            <a:srgbClr val="FFFFFF"/>
                          </a:solidFill>
                          <a:latin typeface="Segoe UI"/>
                          <a:cs typeface="Nirmala UI"/>
                          <a:ea typeface="Nirmala UI"/>
                        </a:rPr>
                        <a:t>Our response</a:t>
                      </a:r>
                    </a:p>
                  </a:txBody>
                  <a:tcPr marL="73152" marR="73152" marT="27432" marB="27432" anchor="ctr">
                    <a:solidFill>
                      <a:srgbClr val="3F51B5"/>
                    </a:solidFill>
                  </a:tcPr>
                </a:tc>
              </a:tr>
              <a:tr h="566928">
                <a:tc>
                  <a:txBody>
                    <a:bodyPr wrap="square"/>
                    <a:lstStyle/>
                    <a:p>
                      <a:pPr algn="l">
                        <a:lnSpc>
                          <a:spcPct val="110000"/>
                        </a:lnSpc>
                      </a:pPr>
                      <a:r>
                        <a:rPr sz="1200" b="0" i="0">
                          <a:solidFill>
                            <a:srgbClr val="1F2433"/>
                          </a:solidFill>
                          <a:latin typeface="Segoe UI"/>
                          <a:cs typeface="Nirmala UI"/>
                          <a:ea typeface="Nirmala UI"/>
                        </a:rPr>
                        <a:t>Each token tagged independently → invalid sequences (O → I-ORG)</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CRF output layer; we count invalid transitions</a:t>
                      </a:r>
                    </a:p>
                  </a:txBody>
                  <a:tcPr marL="73152" marR="73152" marT="27432" marB="27432" anchor="ctr">
                    <a:solidFill>
                      <a:srgbClr val="FFFFFF"/>
                    </a:solidFill>
                  </a:tcPr>
                </a:tc>
              </a:tr>
              <a:tr h="566928">
                <a:tc>
                  <a:txBody>
                    <a:bodyPr wrap="square"/>
                    <a:lstStyle/>
                    <a:p>
                      <a:pPr algn="l">
                        <a:lnSpc>
                          <a:spcPct val="110000"/>
                        </a:lnSpc>
                      </a:pPr>
                      <a:r>
                        <a:rPr sz="1200" b="0" i="0">
                          <a:solidFill>
                            <a:srgbClr val="1F2433"/>
                          </a:solidFill>
                          <a:latin typeface="Segoe UI"/>
                          <a:cs typeface="Nirmala UI"/>
                          <a:ea typeface="Nirmala UI"/>
                        </a:rPr>
                        <a:t>Subword ↔ label alignment never described</a:t>
                      </a:r>
                    </a:p>
                  </a:txBody>
                  <a:tcPr marL="73152" marR="73152" marT="27432" marB="27432" anchor="ctr">
                    <a:solidFill>
                      <a:srgbClr val="F4F5FB"/>
                    </a:solidFill>
                  </a:tcPr>
                </a:tc>
                <a:tc>
                  <a:txBody>
                    <a:bodyPr wrap="square"/>
                    <a:lstStyle/>
                    <a:p>
                      <a:pPr algn="ctr">
                        <a:lnSpc>
                          <a:spcPct val="110000"/>
                        </a:lnSpc>
                      </a:pPr>
                      <a:r>
                        <a:rPr sz="1200" b="0" i="0">
                          <a:solidFill>
                            <a:srgbClr val="1F2433"/>
                          </a:solidFill>
                          <a:latin typeface="Segoe UI"/>
                          <a:cs typeface="Nirmala UI"/>
                          <a:ea typeface="Nirmala UI"/>
                        </a:rPr>
                        <a:t>Explicit first-subword alignment, −100 masking</a:t>
                      </a:r>
                    </a:p>
                  </a:txBody>
                  <a:tcPr marL="73152" marR="73152" marT="27432" marB="27432" anchor="ctr">
                    <a:solidFill>
                      <a:srgbClr val="F4F5FB"/>
                    </a:solidFill>
                  </a:tcPr>
                </a:tc>
              </a:tr>
              <a:tr h="566928">
                <a:tc>
                  <a:txBody>
                    <a:bodyPr wrap="square"/>
                    <a:lstStyle/>
                    <a:p>
                      <a:pPr algn="l">
                        <a:lnSpc>
                          <a:spcPct val="110000"/>
                        </a:lnSpc>
                      </a:pPr>
                      <a:r>
                        <a:rPr sz="1200" b="0" i="0">
                          <a:solidFill>
                            <a:srgbClr val="1F2433"/>
                          </a:solidFill>
                          <a:latin typeface="Segoe UI"/>
                          <a:cs typeface="Nirmala UI"/>
                          <a:ea typeface="Nirmala UI"/>
                        </a:rPr>
                        <a:t>Metric unclear; Marathi ORG F1 (88.8) above both P and R</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Strict entity-level seqeval + confusion matrices</a:t>
                      </a:r>
                    </a:p>
                  </a:txBody>
                  <a:tcPr marL="73152" marR="73152" marT="27432" marB="27432" anchor="ctr">
                    <a:solidFill>
                      <a:srgbClr val="FFFFFF"/>
                    </a:solidFill>
                  </a:tcPr>
                </a:tc>
              </a:tr>
              <a:tr h="566928">
                <a:tc>
                  <a:txBody>
                    <a:bodyPr wrap="square"/>
                    <a:lstStyle/>
                    <a:p>
                      <a:pPr algn="l">
                        <a:lnSpc>
                          <a:spcPct val="110000"/>
                        </a:lnSpc>
                      </a:pPr>
                      <a:r>
                        <a:rPr sz="1200" b="0" i="0">
                          <a:solidFill>
                            <a:srgbClr val="1F2433"/>
                          </a:solidFill>
                          <a:latin typeface="Segoe UI"/>
                          <a:cs typeface="Nirmala UI"/>
                          <a:ea typeface="Nirmala UI"/>
                        </a:rPr>
                        <a:t>WikiAnn: auto-labelled title fragments</a:t>
                      </a:r>
                    </a:p>
                  </a:txBody>
                  <a:tcPr marL="73152" marR="73152" marT="27432" marB="27432" anchor="ctr">
                    <a:solidFill>
                      <a:srgbClr val="F4F5FB"/>
                    </a:solidFill>
                  </a:tcPr>
                </a:tc>
                <a:tc>
                  <a:txBody>
                    <a:bodyPr wrap="square"/>
                    <a:lstStyle/>
                    <a:p>
                      <a:pPr algn="ctr">
                        <a:lnSpc>
                          <a:spcPct val="110000"/>
                        </a:lnSpc>
                      </a:pPr>
                      <a:r>
                        <a:rPr sz="1200" b="0" i="0">
                          <a:solidFill>
                            <a:srgbClr val="1F2433"/>
                          </a:solidFill>
                          <a:latin typeface="Segoe UI"/>
                          <a:cs typeface="Nirmala UI"/>
                          <a:ea typeface="Nirmala UI"/>
                        </a:rPr>
                        <a:t>Naamapadam: human-annotated test set</a:t>
                      </a:r>
                    </a:p>
                  </a:txBody>
                  <a:tcPr marL="73152" marR="73152" marT="27432" marB="27432" anchor="ctr">
                    <a:solidFill>
                      <a:srgbClr val="F4F5FB"/>
                    </a:solidFill>
                  </a:tcPr>
                </a:tc>
              </a:tr>
              <a:tr h="566928">
                <a:tc>
                  <a:txBody>
                    <a:bodyPr wrap="square"/>
                    <a:lstStyle/>
                    <a:p>
                      <a:pPr algn="l">
                        <a:lnSpc>
                          <a:spcPct val="110000"/>
                        </a:lnSpc>
                      </a:pPr>
                      <a:r>
                        <a:rPr sz="1200" b="0" i="0">
                          <a:solidFill>
                            <a:srgbClr val="1F2433"/>
                          </a:solidFill>
                          <a:latin typeface="Segoe UI"/>
                          <a:cs typeface="Nirmala UI"/>
                          <a:ea typeface="Nirmala UI"/>
                        </a:rPr>
                        <a:t>mBERT: Malayalam is a tiny share</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IndicBERTv2, built for Indic languages</a:t>
                      </a:r>
                    </a:p>
                  </a:txBody>
                  <a:tcPr marL="73152" marR="73152" marT="27432" marB="27432" anchor="ctr">
                    <a:solidFill>
                      <a:srgbClr val="FFFFFF"/>
                    </a:solidFill>
                  </a:tcPr>
                </a:tc>
              </a:tr>
            </a:tbl>
          </a:graphicData>
        </a:graphic>
      </p:graphicFrame>
      <p:sp>
        <p:nvSpPr>
          <p:cNvPr id="13" name="TextBox 12"/>
          <p:cNvSpPr txBox="1"/>
          <p:nvPr/>
        </p:nvSpPr>
        <p:spPr>
          <a:xfrm>
            <a:off x="502920" y="4572000"/>
            <a:ext cx="4023360" cy="1645920"/>
          </a:xfrm>
          <a:prstGeom prst="rect">
            <a:avLst/>
          </a:prstGeom>
          <a:noFill/>
        </p:spPr>
        <p:txBody>
          <a:bodyPr wrap="square" anchor="t" lIns="45720" rIns="45720">
            <a:spAutoFit/>
          </a:bodyPr>
          <a:lstStyle/>
          <a:p>
            <a:pPr algn="l">
              <a:lnSpc>
                <a:spcPct val="110000"/>
              </a:lnSpc>
            </a:pPr>
            <a:r>
              <a:rPr sz="1200" b="1" i="0">
                <a:solidFill>
                  <a:srgbClr val="3F51B5"/>
                </a:solidFill>
                <a:latin typeface="Segoe UI"/>
                <a:cs typeface="Nirmala UI"/>
                <a:ea typeface="Nirmala UI"/>
              </a:rPr>
              <a:t>Other work: </a:t>
            </a:r>
            <a:r>
              <a:rPr sz="1200" b="0" i="0">
                <a:solidFill>
                  <a:srgbClr val="636A80"/>
                </a:solidFill>
                <a:latin typeface="Segoe UI"/>
                <a:cs typeface="Nirmala UI"/>
                <a:ea typeface="Nirmala UI"/>
              </a:rPr>
              <a:t>Fuzzy SVM (Lakshmi 2016) 88.1 F1 on 500 private sentences; IndicNER 81.67 on Naamapadam; m-BERT (Gopalakrishnan 2025) 96.45 on an unreleased 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DATA</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Dataset: Naamapadam (Malayalam)</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05</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5</a:t>
            </a:r>
          </a:p>
        </p:txBody>
      </p:sp>
      <p:sp>
        <p:nvSpPr>
          <p:cNvPr id="9" name="TextBox 8"/>
          <p:cNvSpPr txBox="1"/>
          <p:nvPr/>
        </p:nvSpPr>
        <p:spPr>
          <a:xfrm>
            <a:off x="502920" y="1325880"/>
            <a:ext cx="5120640" cy="2103120"/>
          </a:xfrm>
          <a:prstGeom prst="rect">
            <a:avLst/>
          </a:prstGeom>
          <a:noFill/>
        </p:spPr>
        <p:txBody>
          <a:bodyPr wrap="square" anchor="t" lIns="45720" rIns="45720">
            <a:spAutoFit/>
          </a:bodyPr>
          <a:lstStyle/>
          <a:p>
            <a:pPr algn="l">
              <a:lnSpc>
                <a:spcPct val="110000"/>
              </a:lnSpc>
              <a:spcAft>
                <a:spcPts val="6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AI4Bharat, ACL 2023: </a:t>
            </a:r>
            <a:r>
              <a:rPr sz="1400" b="0" i="0">
                <a:solidFill>
                  <a:srgbClr val="1F2433"/>
                </a:solidFill>
                <a:latin typeface="Segoe UI"/>
                <a:cs typeface="Nirmala UI"/>
                <a:ea typeface="Nirmala UI"/>
              </a:rPr>
              <a:t>largest public Indic NER corpus, 11 languages</a:t>
            </a:r>
          </a:p>
          <a:p>
            <a:pPr algn="l">
              <a:lnSpc>
                <a:spcPct val="110000"/>
              </a:lnSpc>
              <a:spcAft>
                <a:spcPts val="6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Train/val: </a:t>
            </a:r>
            <a:r>
              <a:rPr sz="1400" b="0" i="0">
                <a:solidFill>
                  <a:srgbClr val="1F2433"/>
                </a:solidFill>
                <a:latin typeface="Segoe UI"/>
                <a:cs typeface="Nirmala UI"/>
                <a:ea typeface="Nirmala UI"/>
              </a:rPr>
              <a:t>English NER tags projected onto Malayalam translations (large, a bit noisy)</a:t>
            </a:r>
          </a:p>
          <a:p>
            <a:pPr algn="l">
              <a:lnSpc>
                <a:spcPct val="110000"/>
              </a:lnSpc>
              <a:spcAft>
                <a:spcPts val="6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Test: </a:t>
            </a:r>
            <a:r>
              <a:rPr sz="1400" b="0" i="0">
                <a:solidFill>
                  <a:srgbClr val="1F2433"/>
                </a:solidFill>
                <a:latin typeface="Segoe UI"/>
                <a:cs typeface="Nirmala UI"/>
                <a:ea typeface="Nirmala UI"/>
              </a:rPr>
              <a:t>manually annotated by humans → trustworthy benchmark</a:t>
            </a:r>
          </a:p>
          <a:p>
            <a:pPr algn="l">
              <a:lnSpc>
                <a:spcPct val="110000"/>
              </a:lnSpc>
              <a:spcAft>
                <a:spcPts val="6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We used </a:t>
            </a:r>
            <a:r>
              <a:rPr sz="1400" b="0" i="0">
                <a:solidFill>
                  <a:srgbClr val="1F2433"/>
                </a:solidFill>
                <a:latin typeface="Segoe UI"/>
                <a:cs typeface="Nirmala UI"/>
                <a:ea typeface="Nirmala UI"/>
              </a:rPr>
              <a:t>the first 50,000 of 716,652 training sentences (6 GB GPU budget)</a:t>
            </a:r>
          </a:p>
        </p:txBody>
      </p:sp>
      <p:graphicFrame>
        <p:nvGraphicFramePr>
          <p:cNvPr id="10" name="Table 9"/>
          <p:cNvGraphicFramePr>
            <a:graphicFrameLocks noGrp="1"/>
          </p:cNvGraphicFramePr>
          <p:nvPr/>
        </p:nvGraphicFramePr>
        <p:xfrm>
          <a:off x="502920" y="3657600"/>
          <a:ext cx="5120636" cy="1536192"/>
        </p:xfrm>
        <a:graphic>
          <a:graphicData uri="http://schemas.openxmlformats.org/drawingml/2006/table">
            <a:tbl>
              <a:tblPr firstRow="0" bandRow="0">
                <a:tableStyleId>{5940675A-B579-460E-94D1-54222C63F5DA}</a:tableStyleId>
              </a:tblPr>
              <a:tblGrid>
                <a:gridCol w="1347536"/>
                <a:gridCol w="1078029"/>
                <a:gridCol w="898357"/>
                <a:gridCol w="898357"/>
                <a:gridCol w="898357"/>
              </a:tblGrid>
              <a:tr h="384048">
                <a:tc>
                  <a:txBody>
                    <a:bodyPr wrap="square"/>
                    <a:lstStyle/>
                    <a:p>
                      <a:pPr algn="l">
                        <a:lnSpc>
                          <a:spcPct val="110000"/>
                        </a:lnSpc>
                      </a:pPr>
                      <a:r>
                        <a:rPr sz="1200" b="1" i="0">
                          <a:solidFill>
                            <a:srgbClr val="FFFFFF"/>
                          </a:solidFill>
                          <a:latin typeface="Segoe UI"/>
                          <a:cs typeface="Nirmala UI"/>
                          <a:ea typeface="Nirmala UI"/>
                        </a:rPr>
                        <a:t>Split</a:t>
                      </a:r>
                    </a:p>
                  </a:txBody>
                  <a:tcPr marL="73152" marR="73152" marT="27432" marB="27432" anchor="ctr">
                    <a:solidFill>
                      <a:srgbClr val="3F51B5"/>
                    </a:solidFill>
                  </a:tcPr>
                </a:tc>
                <a:tc>
                  <a:txBody>
                    <a:bodyPr wrap="square"/>
                    <a:lstStyle/>
                    <a:p>
                      <a:pPr algn="ctr">
                        <a:lnSpc>
                          <a:spcPct val="110000"/>
                        </a:lnSpc>
                      </a:pPr>
                      <a:r>
                        <a:rPr sz="1200" b="1" i="0">
                          <a:solidFill>
                            <a:srgbClr val="FFFFFF"/>
                          </a:solidFill>
                          <a:latin typeface="Segoe UI"/>
                          <a:cs typeface="Nirmala UI"/>
                          <a:ea typeface="Nirmala UI"/>
                        </a:rPr>
                        <a:t>Sentences</a:t>
                      </a:r>
                    </a:p>
                  </a:txBody>
                  <a:tcPr marL="73152" marR="73152" marT="27432" marB="27432" anchor="ctr">
                    <a:solidFill>
                      <a:srgbClr val="3F51B5"/>
                    </a:solidFill>
                  </a:tcPr>
                </a:tc>
                <a:tc>
                  <a:txBody>
                    <a:bodyPr wrap="square"/>
                    <a:lstStyle/>
                    <a:p>
                      <a:pPr algn="ctr">
                        <a:lnSpc>
                          <a:spcPct val="110000"/>
                        </a:lnSpc>
                      </a:pPr>
                      <a:r>
                        <a:rPr sz="1200" b="1" i="0">
                          <a:solidFill>
                            <a:srgbClr val="FFFFFF"/>
                          </a:solidFill>
                          <a:latin typeface="Segoe UI"/>
                          <a:cs typeface="Nirmala UI"/>
                          <a:ea typeface="Nirmala UI"/>
                        </a:rPr>
                        <a:t>PER</a:t>
                      </a:r>
                    </a:p>
                  </a:txBody>
                  <a:tcPr marL="73152" marR="73152" marT="27432" marB="27432" anchor="ctr">
                    <a:solidFill>
                      <a:srgbClr val="3F51B5"/>
                    </a:solidFill>
                  </a:tcPr>
                </a:tc>
                <a:tc>
                  <a:txBody>
                    <a:bodyPr wrap="square"/>
                    <a:lstStyle/>
                    <a:p>
                      <a:pPr algn="ctr">
                        <a:lnSpc>
                          <a:spcPct val="110000"/>
                        </a:lnSpc>
                      </a:pPr>
                      <a:r>
                        <a:rPr sz="1200" b="1" i="0">
                          <a:solidFill>
                            <a:srgbClr val="FFFFFF"/>
                          </a:solidFill>
                          <a:latin typeface="Segoe UI"/>
                          <a:cs typeface="Nirmala UI"/>
                          <a:ea typeface="Nirmala UI"/>
                        </a:rPr>
                        <a:t>ORG</a:t>
                      </a:r>
                    </a:p>
                  </a:txBody>
                  <a:tcPr marL="73152" marR="73152" marT="27432" marB="27432" anchor="ctr">
                    <a:solidFill>
                      <a:srgbClr val="3F51B5"/>
                    </a:solidFill>
                  </a:tcPr>
                </a:tc>
                <a:tc>
                  <a:txBody>
                    <a:bodyPr wrap="square"/>
                    <a:lstStyle/>
                    <a:p>
                      <a:pPr algn="ctr">
                        <a:lnSpc>
                          <a:spcPct val="110000"/>
                        </a:lnSpc>
                      </a:pPr>
                      <a:r>
                        <a:rPr sz="1200" b="1" i="0">
                          <a:solidFill>
                            <a:srgbClr val="FFFFFF"/>
                          </a:solidFill>
                          <a:latin typeface="Segoe UI"/>
                          <a:cs typeface="Nirmala UI"/>
                          <a:ea typeface="Nirmala UI"/>
                        </a:rPr>
                        <a:t>LOC</a:t>
                      </a:r>
                    </a:p>
                  </a:txBody>
                  <a:tcPr marL="73152" marR="73152" marT="27432" marB="27432" anchor="ctr">
                    <a:solidFill>
                      <a:srgbClr val="3F51B5"/>
                    </a:solidFill>
                  </a:tcPr>
                </a:tc>
              </a:tr>
              <a:tr h="384048">
                <a:tc>
                  <a:txBody>
                    <a:bodyPr wrap="square"/>
                    <a:lstStyle/>
                    <a:p>
                      <a:pPr algn="l">
                        <a:lnSpc>
                          <a:spcPct val="110000"/>
                        </a:lnSpc>
                      </a:pPr>
                      <a:r>
                        <a:rPr sz="1200" b="0" i="0">
                          <a:solidFill>
                            <a:srgbClr val="1F2433"/>
                          </a:solidFill>
                          <a:latin typeface="Segoe UI"/>
                          <a:cs typeface="Nirmala UI"/>
                          <a:ea typeface="Nirmala UI"/>
                        </a:rPr>
                        <a:t>Train (used)</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50,000</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35,057</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16,265</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21,333</a:t>
                      </a:r>
                    </a:p>
                  </a:txBody>
                  <a:tcPr marL="73152" marR="73152" marT="27432" marB="27432" anchor="ctr">
                    <a:solidFill>
                      <a:srgbClr val="FFFFFF"/>
                    </a:solidFill>
                  </a:tcPr>
                </a:tc>
              </a:tr>
              <a:tr h="384048">
                <a:tc>
                  <a:txBody>
                    <a:bodyPr wrap="square"/>
                    <a:lstStyle/>
                    <a:p>
                      <a:pPr algn="l">
                        <a:lnSpc>
                          <a:spcPct val="110000"/>
                        </a:lnSpc>
                      </a:pPr>
                      <a:r>
                        <a:rPr sz="1200" b="0" i="0">
                          <a:solidFill>
                            <a:srgbClr val="1F2433"/>
                          </a:solidFill>
                          <a:latin typeface="Segoe UI"/>
                          <a:cs typeface="Nirmala UI"/>
                          <a:ea typeface="Nirmala UI"/>
                        </a:rPr>
                        <a:t>Validation</a:t>
                      </a:r>
                    </a:p>
                  </a:txBody>
                  <a:tcPr marL="73152" marR="73152" marT="27432" marB="27432" anchor="ctr">
                    <a:solidFill>
                      <a:srgbClr val="F4F5FB"/>
                    </a:solidFill>
                  </a:tcPr>
                </a:tc>
                <a:tc>
                  <a:txBody>
                    <a:bodyPr wrap="square"/>
                    <a:lstStyle/>
                    <a:p>
                      <a:pPr algn="ctr">
                        <a:lnSpc>
                          <a:spcPct val="110000"/>
                        </a:lnSpc>
                      </a:pPr>
                      <a:r>
                        <a:rPr sz="1200" b="0" i="0">
                          <a:solidFill>
                            <a:srgbClr val="1F2433"/>
                          </a:solidFill>
                          <a:latin typeface="Segoe UI"/>
                          <a:cs typeface="Nirmala UI"/>
                          <a:ea typeface="Nirmala UI"/>
                        </a:rPr>
                        <a:t>3,618</a:t>
                      </a:r>
                    </a:p>
                  </a:txBody>
                  <a:tcPr marL="73152" marR="73152" marT="27432" marB="27432" anchor="ctr">
                    <a:solidFill>
                      <a:srgbClr val="F4F5FB"/>
                    </a:solidFill>
                  </a:tcPr>
                </a:tc>
                <a:tc>
                  <a:txBody>
                    <a:bodyPr wrap="square"/>
                    <a:lstStyle/>
                    <a:p>
                      <a:pPr algn="ctr">
                        <a:lnSpc>
                          <a:spcPct val="110000"/>
                        </a:lnSpc>
                      </a:pPr>
                      <a:r>
                        <a:rPr sz="1200" b="0" i="0">
                          <a:solidFill>
                            <a:srgbClr val="1F2433"/>
                          </a:solidFill>
                          <a:latin typeface="Segoe UI"/>
                          <a:cs typeface="Nirmala UI"/>
                          <a:ea typeface="Nirmala UI"/>
                        </a:rPr>
                        <a:t>2,569</a:t>
                      </a:r>
                    </a:p>
                  </a:txBody>
                  <a:tcPr marL="73152" marR="73152" marT="27432" marB="27432" anchor="ctr">
                    <a:solidFill>
                      <a:srgbClr val="F4F5FB"/>
                    </a:solidFill>
                  </a:tcPr>
                </a:tc>
                <a:tc>
                  <a:txBody>
                    <a:bodyPr wrap="square"/>
                    <a:lstStyle/>
                    <a:p>
                      <a:pPr algn="ctr">
                        <a:lnSpc>
                          <a:spcPct val="110000"/>
                        </a:lnSpc>
                      </a:pPr>
                      <a:r>
                        <a:rPr sz="1200" b="0" i="0">
                          <a:solidFill>
                            <a:srgbClr val="1F2433"/>
                          </a:solidFill>
                          <a:latin typeface="Segoe UI"/>
                          <a:cs typeface="Nirmala UI"/>
                          <a:ea typeface="Nirmala UI"/>
                        </a:rPr>
                        <a:t>1,182</a:t>
                      </a:r>
                    </a:p>
                  </a:txBody>
                  <a:tcPr marL="73152" marR="73152" marT="27432" marB="27432" anchor="ctr">
                    <a:solidFill>
                      <a:srgbClr val="F4F5FB"/>
                    </a:solidFill>
                  </a:tcPr>
                </a:tc>
                <a:tc>
                  <a:txBody>
                    <a:bodyPr wrap="square"/>
                    <a:lstStyle/>
                    <a:p>
                      <a:pPr algn="ctr">
                        <a:lnSpc>
                          <a:spcPct val="110000"/>
                        </a:lnSpc>
                      </a:pPr>
                      <a:r>
                        <a:rPr sz="1200" b="0" i="0">
                          <a:solidFill>
                            <a:srgbClr val="1F2433"/>
                          </a:solidFill>
                          <a:latin typeface="Segoe UI"/>
                          <a:cs typeface="Nirmala UI"/>
                          <a:ea typeface="Nirmala UI"/>
                        </a:rPr>
                        <a:t>1,610</a:t>
                      </a:r>
                    </a:p>
                  </a:txBody>
                  <a:tcPr marL="73152" marR="73152" marT="27432" marB="27432" anchor="ctr">
                    <a:solidFill>
                      <a:srgbClr val="F4F5FB"/>
                    </a:solidFill>
                  </a:tcPr>
                </a:tc>
              </a:tr>
              <a:tr h="384048">
                <a:tc>
                  <a:txBody>
                    <a:bodyPr wrap="square"/>
                    <a:lstStyle/>
                    <a:p>
                      <a:pPr algn="l">
                        <a:lnSpc>
                          <a:spcPct val="110000"/>
                        </a:lnSpc>
                      </a:pPr>
                      <a:r>
                        <a:rPr sz="1200" b="0" i="0">
                          <a:solidFill>
                            <a:srgbClr val="1F2433"/>
                          </a:solidFill>
                          <a:latin typeface="Segoe UI"/>
                          <a:cs typeface="Nirmala UI"/>
                          <a:ea typeface="Nirmala UI"/>
                        </a:rPr>
                        <a:t>Test</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965*</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714</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309</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482</a:t>
                      </a:r>
                    </a:p>
                  </a:txBody>
                  <a:tcPr marL="73152" marR="73152" marT="27432" marB="27432" anchor="ctr">
                    <a:solidFill>
                      <a:srgbClr val="FFFFFF"/>
                    </a:solidFill>
                  </a:tcPr>
                </a:tc>
              </a:tr>
            </a:tbl>
          </a:graphicData>
        </a:graphic>
      </p:graphicFrame>
      <p:sp>
        <p:nvSpPr>
          <p:cNvPr id="11" name="TextBox 10"/>
          <p:cNvSpPr txBox="1"/>
          <p:nvPr/>
        </p:nvSpPr>
        <p:spPr>
          <a:xfrm>
            <a:off x="502920" y="5257800"/>
            <a:ext cx="5120640" cy="731520"/>
          </a:xfrm>
          <a:prstGeom prst="rect">
            <a:avLst/>
          </a:prstGeom>
          <a:noFill/>
        </p:spPr>
        <p:txBody>
          <a:bodyPr wrap="square" anchor="t" lIns="45720" rIns="45720">
            <a:spAutoFit/>
          </a:bodyPr>
          <a:lstStyle/>
          <a:p>
            <a:pPr algn="l">
              <a:lnSpc>
                <a:spcPct val="110000"/>
              </a:lnSpc>
            </a:pPr>
            <a:r>
              <a:rPr sz="1100" b="0" i="0">
                <a:solidFill>
                  <a:srgbClr val="636A80"/>
                </a:solidFill>
                <a:latin typeface="Segoe UI"/>
                <a:cs typeface="Nirmala UI"/>
                <a:ea typeface="Nirmala UI"/>
              </a:rPr>
              <a:t>* 974 rows, 9 empty/malformed rows dropped. Avg. 9 words per sentence.</a:t>
            </a:r>
          </a:p>
        </p:txBody>
      </p:sp>
      <p:sp>
        <p:nvSpPr>
          <p:cNvPr id="12" name="Rectangle 11"/>
          <p:cNvSpPr/>
          <p:nvPr/>
        </p:nvSpPr>
        <p:spPr>
          <a:xfrm>
            <a:off x="5843016" y="1476756"/>
            <a:ext cx="5870448" cy="2990088"/>
          </a:xfrm>
          <a:prstGeom prst="rect">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ag_distribution.png"/>
          <p:cNvPicPr>
            <a:picLocks noChangeAspect="1"/>
          </p:cNvPicPr>
          <p:nvPr/>
        </p:nvPicPr>
        <p:blipFill>
          <a:blip r:embed="rId2"/>
          <a:stretch>
            <a:fillRect/>
          </a:stretch>
        </p:blipFill>
        <p:spPr>
          <a:xfrm>
            <a:off x="5897880" y="1531620"/>
            <a:ext cx="5760720" cy="2880360"/>
          </a:xfrm>
          <a:prstGeom prst="rect">
            <a:avLst/>
          </a:prstGeom>
        </p:spPr>
      </p:pic>
      <p:sp>
        <p:nvSpPr>
          <p:cNvPr id="14" name="Rounded Rectangle 13"/>
          <p:cNvSpPr/>
          <p:nvPr/>
        </p:nvSpPr>
        <p:spPr>
          <a:xfrm>
            <a:off x="5897880" y="4846320"/>
            <a:ext cx="5788152" cy="141732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4937760"/>
            <a:ext cx="5394960" cy="1280160"/>
          </a:xfrm>
          <a:prstGeom prst="rect">
            <a:avLst/>
          </a:prstGeom>
          <a:noFill/>
        </p:spPr>
        <p:txBody>
          <a:bodyPr wrap="square" anchor="t" lIns="45720" rIns="45720">
            <a:spAutoFit/>
          </a:bodyPr>
          <a:lstStyle/>
          <a:p>
            <a:pPr algn="l">
              <a:lnSpc>
                <a:spcPct val="110000"/>
              </a:lnSpc>
            </a:pPr>
            <a:r>
              <a:rPr sz="1400" b="1" i="0">
                <a:solidFill>
                  <a:srgbClr val="3F51B5"/>
                </a:solidFill>
                <a:latin typeface="Segoe UI"/>
                <a:cs typeface="Nirmala UI"/>
                <a:ea typeface="Nirmala UI"/>
              </a:rPr>
              <a:t>74% of words are O; I-LOC is only 0.9% </a:t>
            </a:r>
            <a:r>
              <a:rPr sz="1400" b="0" i="0">
                <a:solidFill>
                  <a:srgbClr val="1F2433"/>
                </a:solidFill>
                <a:latin typeface="Segoe UI"/>
                <a:cs typeface="Nirmala UI"/>
                <a:ea typeface="Nirmala UI"/>
              </a:rPr>
              <a:t>because most Malayalam place names are one agglutinated word. This imbalance is why the baseline uses class weights, and why I-LOC / I-ORG are hardest.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METHOD</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System architecture</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06</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6</a:t>
            </a:r>
          </a:p>
        </p:txBody>
      </p:sp>
      <p:sp>
        <p:nvSpPr>
          <p:cNvPr id="9" name="Rounded Rectangle 8"/>
          <p:cNvSpPr/>
          <p:nvPr/>
        </p:nvSpPr>
        <p:spPr>
          <a:xfrm>
            <a:off x="502920" y="1508760"/>
            <a:ext cx="1344168" cy="1143000"/>
          </a:xfrm>
          <a:prstGeom prst="roundRect">
            <a:avLst>
              <a:gd name="adj" fmla="val 12000"/>
            </a:avLst>
          </a:prstGeom>
          <a:solidFill>
            <a:srgbClr val="5E64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0000"/>
              </a:lnSpc>
            </a:pPr>
            <a:r>
              <a:rPr sz="1400" b="1" i="0">
                <a:solidFill>
                  <a:srgbClr val="FFFFFF"/>
                </a:solidFill>
                <a:latin typeface="Segoe UI"/>
                <a:cs typeface="Nirmala UI"/>
                <a:ea typeface="Nirmala UI"/>
              </a:rPr>
              <a:t>Raw text</a:t>
            </a:r>
          </a:p>
          <a:p>
            <a:pPr algn="ctr">
              <a:lnSpc>
                <a:spcPct val="110000"/>
              </a:lnSpc>
            </a:pPr>
            <a:r>
              <a:rPr sz="1100" b="0" i="0">
                <a:solidFill>
                  <a:srgbClr val="FFFFFF"/>
                </a:solidFill>
                <a:latin typeface="Segoe UI"/>
                <a:cs typeface="Nirmala UI"/>
                <a:ea typeface="Nirmala UI"/>
              </a:rPr>
              <a:t>Malayalam sentence</a:t>
            </a:r>
          </a:p>
        </p:txBody>
      </p:sp>
      <p:sp>
        <p:nvSpPr>
          <p:cNvPr id="10" name="Right Arrow 9"/>
          <p:cNvSpPr/>
          <p:nvPr/>
        </p:nvSpPr>
        <p:spPr>
          <a:xfrm>
            <a:off x="1865376" y="1938528"/>
            <a:ext cx="256032" cy="274320"/>
          </a:xfrm>
          <a:prstGeom prst="rightArrow">
            <a:avLst/>
          </a:prstGeom>
          <a:solidFill>
            <a:srgbClr val="BFC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39696" y="1508760"/>
            <a:ext cx="1344168" cy="1143000"/>
          </a:xfrm>
          <a:prstGeom prst="roundRect">
            <a:avLst>
              <a:gd name="adj" fmla="val 12000"/>
            </a:avLst>
          </a:prstGeom>
          <a:solidFill>
            <a:srgbClr val="5E64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0000"/>
              </a:lnSpc>
            </a:pPr>
            <a:r>
              <a:rPr sz="1400" b="1" i="0">
                <a:solidFill>
                  <a:srgbClr val="FFFFFF"/>
                </a:solidFill>
                <a:latin typeface="Segoe UI"/>
                <a:cs typeface="Nirmala UI"/>
                <a:ea typeface="Nirmala UI"/>
              </a:rPr>
              <a:t>Word split</a:t>
            </a:r>
          </a:p>
          <a:p>
            <a:pPr algn="ctr">
              <a:lnSpc>
                <a:spcPct val="110000"/>
              </a:lnSpc>
            </a:pPr>
            <a:r>
              <a:rPr sz="1100" b="0" i="0">
                <a:solidFill>
                  <a:srgbClr val="FFFFFF"/>
                </a:solidFill>
                <a:latin typeface="Segoe UI"/>
                <a:cs typeface="Nirmala UI"/>
                <a:ea typeface="Nirmala UI"/>
              </a:rPr>
              <a:t>regex, keeps glyph clusters</a:t>
            </a:r>
          </a:p>
        </p:txBody>
      </p:sp>
      <p:sp>
        <p:nvSpPr>
          <p:cNvPr id="12" name="Right Arrow 11"/>
          <p:cNvSpPr/>
          <p:nvPr/>
        </p:nvSpPr>
        <p:spPr>
          <a:xfrm>
            <a:off x="3502151" y="1938528"/>
            <a:ext cx="256032" cy="274320"/>
          </a:xfrm>
          <a:prstGeom prst="rightArrow">
            <a:avLst/>
          </a:prstGeom>
          <a:solidFill>
            <a:srgbClr val="BFC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76472" y="1508760"/>
            <a:ext cx="1344168" cy="1143000"/>
          </a:xfrm>
          <a:prstGeom prst="roundRect">
            <a:avLst>
              <a:gd name="adj" fmla="val 12000"/>
            </a:avLst>
          </a:prstGeom>
          <a:solidFill>
            <a:srgbClr val="5E64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0000"/>
              </a:lnSpc>
            </a:pPr>
            <a:r>
              <a:rPr sz="1400" b="1" i="0">
                <a:solidFill>
                  <a:srgbClr val="FFFFFF"/>
                </a:solidFill>
                <a:latin typeface="Segoe UI"/>
                <a:cs typeface="Nirmala UI"/>
                <a:ea typeface="Nirmala UI"/>
              </a:rPr>
              <a:t>WordPiece</a:t>
            </a:r>
          </a:p>
          <a:p>
            <a:pPr algn="ctr">
              <a:lnSpc>
                <a:spcPct val="110000"/>
              </a:lnSpc>
            </a:pPr>
            <a:r>
              <a:rPr sz="1100" b="0" i="0">
                <a:solidFill>
                  <a:srgbClr val="FFFFFF"/>
                </a:solidFill>
                <a:latin typeface="Segoe UI"/>
                <a:cs typeface="Nirmala UI"/>
                <a:ea typeface="Nirmala UI"/>
              </a:rPr>
              <a:t>250k vocab · 1.56 subwords/word</a:t>
            </a:r>
          </a:p>
        </p:txBody>
      </p:sp>
      <p:sp>
        <p:nvSpPr>
          <p:cNvPr id="14" name="Right Arrow 13"/>
          <p:cNvSpPr/>
          <p:nvPr/>
        </p:nvSpPr>
        <p:spPr>
          <a:xfrm>
            <a:off x="5138927" y="1938528"/>
            <a:ext cx="256032" cy="274320"/>
          </a:xfrm>
          <a:prstGeom prst="rightArrow">
            <a:avLst/>
          </a:prstGeom>
          <a:solidFill>
            <a:srgbClr val="BFC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13248" y="1508760"/>
            <a:ext cx="1344168" cy="1143000"/>
          </a:xfrm>
          <a:prstGeom prst="roundRect">
            <a:avLst>
              <a:gd name="adj" fmla="val 12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0000"/>
              </a:lnSpc>
            </a:pPr>
            <a:r>
              <a:rPr sz="1400" b="1" i="0">
                <a:solidFill>
                  <a:srgbClr val="FFFFFF"/>
                </a:solidFill>
                <a:latin typeface="Segoe UI"/>
                <a:cs typeface="Nirmala UI"/>
                <a:ea typeface="Nirmala UI"/>
              </a:rPr>
              <a:t>IndicBERTv2</a:t>
            </a:r>
          </a:p>
          <a:p>
            <a:pPr algn="ctr">
              <a:lnSpc>
                <a:spcPct val="110000"/>
              </a:lnSpc>
            </a:pPr>
            <a:r>
              <a:rPr sz="1100" b="0" i="0">
                <a:solidFill>
                  <a:srgbClr val="FFFFFF"/>
                </a:solidFill>
                <a:latin typeface="Segoe UI"/>
                <a:cs typeface="Nirmala UI"/>
                <a:ea typeface="Nirmala UI"/>
              </a:rPr>
              <a:t>12 layers · 768-d · 278M</a:t>
            </a:r>
          </a:p>
        </p:txBody>
      </p:sp>
      <p:sp>
        <p:nvSpPr>
          <p:cNvPr id="16" name="Right Arrow 15"/>
          <p:cNvSpPr/>
          <p:nvPr/>
        </p:nvSpPr>
        <p:spPr>
          <a:xfrm>
            <a:off x="6775703" y="1938528"/>
            <a:ext cx="256032" cy="274320"/>
          </a:xfrm>
          <a:prstGeom prst="rightArrow">
            <a:avLst/>
          </a:prstGeom>
          <a:solidFill>
            <a:srgbClr val="BFC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050024" y="1508760"/>
            <a:ext cx="1344168" cy="1143000"/>
          </a:xfrm>
          <a:prstGeom prst="roundRect">
            <a:avLst>
              <a:gd name="adj" fmla="val 12000"/>
            </a:avLst>
          </a:prstGeom>
          <a:solidFill>
            <a:srgbClr val="5E64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0000"/>
              </a:lnSpc>
            </a:pPr>
            <a:r>
              <a:rPr sz="1400" b="1" i="0">
                <a:solidFill>
                  <a:srgbClr val="FFFFFF"/>
                </a:solidFill>
                <a:latin typeface="Segoe UI"/>
                <a:cs typeface="Nirmala UI"/>
                <a:ea typeface="Nirmala UI"/>
              </a:rPr>
              <a:t>Linear 768→7</a:t>
            </a:r>
          </a:p>
          <a:p>
            <a:pPr algn="ctr">
              <a:lnSpc>
                <a:spcPct val="110000"/>
              </a:lnSpc>
            </a:pPr>
            <a:r>
              <a:rPr sz="1100" b="0" i="0">
                <a:solidFill>
                  <a:srgbClr val="FFFFFF"/>
                </a:solidFill>
                <a:latin typeface="Segoe UI"/>
                <a:cs typeface="Nirmala UI"/>
                <a:ea typeface="Nirmala UI"/>
              </a:rPr>
              <a:t>emission scores</a:t>
            </a:r>
          </a:p>
        </p:txBody>
      </p:sp>
      <p:sp>
        <p:nvSpPr>
          <p:cNvPr id="18" name="Right Arrow 17"/>
          <p:cNvSpPr/>
          <p:nvPr/>
        </p:nvSpPr>
        <p:spPr>
          <a:xfrm>
            <a:off x="8412480" y="1938528"/>
            <a:ext cx="256032" cy="274320"/>
          </a:xfrm>
          <a:prstGeom prst="rightArrow">
            <a:avLst/>
          </a:prstGeom>
          <a:solidFill>
            <a:srgbClr val="BFC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0" y="1508760"/>
            <a:ext cx="1344168" cy="1143000"/>
          </a:xfrm>
          <a:prstGeom prst="roundRect">
            <a:avLst>
              <a:gd name="adj" fmla="val 12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0000"/>
              </a:lnSpc>
            </a:pPr>
            <a:r>
              <a:rPr sz="1400" b="1" i="0">
                <a:solidFill>
                  <a:srgbClr val="FFFFFF"/>
                </a:solidFill>
                <a:latin typeface="Segoe UI"/>
                <a:cs typeface="Nirmala UI"/>
                <a:ea typeface="Nirmala UI"/>
              </a:rPr>
              <a:t>CRF + Viterbi</a:t>
            </a:r>
          </a:p>
          <a:p>
            <a:pPr algn="ctr">
              <a:lnSpc>
                <a:spcPct val="110000"/>
              </a:lnSpc>
            </a:pPr>
            <a:r>
              <a:rPr sz="1100" b="0" i="0">
                <a:solidFill>
                  <a:srgbClr val="FFFFFF"/>
                </a:solidFill>
                <a:latin typeface="Segoe UI"/>
                <a:cs typeface="Nirmala UI"/>
                <a:ea typeface="Nirmala UI"/>
              </a:rPr>
              <a:t>best valid tag path</a:t>
            </a:r>
          </a:p>
        </p:txBody>
      </p:sp>
      <p:sp>
        <p:nvSpPr>
          <p:cNvPr id="20" name="Right Arrow 19"/>
          <p:cNvSpPr/>
          <p:nvPr/>
        </p:nvSpPr>
        <p:spPr>
          <a:xfrm>
            <a:off x="10049256" y="1938528"/>
            <a:ext cx="256032" cy="274320"/>
          </a:xfrm>
          <a:prstGeom prst="rightArrow">
            <a:avLst/>
          </a:prstGeom>
          <a:solidFill>
            <a:srgbClr val="BFC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323576" y="1508760"/>
            <a:ext cx="1344168" cy="1143000"/>
          </a:xfrm>
          <a:prstGeom prst="roundRect">
            <a:avLst>
              <a:gd name="adj" fmla="val 12000"/>
            </a:avLst>
          </a:prstGeom>
          <a:solidFill>
            <a:srgbClr val="5E64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0000"/>
              </a:lnSpc>
            </a:pPr>
            <a:r>
              <a:rPr sz="1400" b="1" i="0">
                <a:solidFill>
                  <a:srgbClr val="FFFFFF"/>
                </a:solidFill>
                <a:latin typeface="Segoe UI"/>
                <a:cs typeface="Nirmala UI"/>
                <a:ea typeface="Nirmala UI"/>
              </a:rPr>
              <a:t>Spans + rules</a:t>
            </a:r>
          </a:p>
          <a:p>
            <a:pPr algn="ctr">
              <a:lnSpc>
                <a:spcPct val="110000"/>
              </a:lnSpc>
            </a:pPr>
            <a:r>
              <a:rPr sz="1100" b="0" i="0">
                <a:solidFill>
                  <a:srgbClr val="FFFFFF"/>
                </a:solidFill>
                <a:latin typeface="Segoe UI"/>
                <a:cs typeface="Nirmala UI"/>
                <a:ea typeface="Nirmala UI"/>
              </a:rPr>
              <a:t>PER/ORG/LOC + DATE/CARD.</a:t>
            </a:r>
          </a:p>
        </p:txBody>
      </p:sp>
      <p:sp>
        <p:nvSpPr>
          <p:cNvPr id="22" name="Rounded Rectangle 21"/>
          <p:cNvSpPr/>
          <p:nvPr/>
        </p:nvSpPr>
        <p:spPr>
          <a:xfrm>
            <a:off x="502920" y="3017520"/>
            <a:ext cx="5486400" cy="324612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154679"/>
            <a:ext cx="502920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Encoder: ai4bharat/IndicBERTv2-MLM-only</a:t>
            </a:r>
          </a:p>
        </p:txBody>
      </p:sp>
      <p:sp>
        <p:nvSpPr>
          <p:cNvPr id="24" name="TextBox 23"/>
          <p:cNvSpPr txBox="1"/>
          <p:nvPr/>
        </p:nvSpPr>
        <p:spPr>
          <a:xfrm>
            <a:off x="731520" y="3520440"/>
            <a:ext cx="5120640" cy="2743200"/>
          </a:xfrm>
          <a:prstGeom prst="rect">
            <a:avLst/>
          </a:prstGeom>
          <a:noFill/>
        </p:spPr>
        <p:txBody>
          <a:bodyPr wrap="square" anchor="t" lIns="45720" rIns="45720">
            <a:spAutoFit/>
          </a:bodyPr>
          <a:lstStyle/>
          <a:p>
            <a:pPr algn="l">
              <a:lnSpc>
                <a:spcPct val="110000"/>
              </a:lnSpc>
              <a:spcAft>
                <a:spcPts val="6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BERT-base: </a:t>
            </a:r>
            <a:r>
              <a:rPr sz="1400" b="0" i="0">
                <a:solidFill>
                  <a:srgbClr val="1F2433"/>
                </a:solidFill>
                <a:latin typeface="Segoe UI"/>
                <a:cs typeface="Nirmala UI"/>
                <a:ea typeface="Nirmala UI"/>
              </a:rPr>
              <a:t>12 Transformer layers, 12 attention heads, 768-dim vectors</a:t>
            </a:r>
          </a:p>
          <a:p>
            <a:pPr algn="l">
              <a:lnSpc>
                <a:spcPct val="110000"/>
              </a:lnSpc>
              <a:spcAft>
                <a:spcPts val="6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Pre-trained </a:t>
            </a:r>
            <a:r>
              <a:rPr sz="1400" b="0" i="0">
                <a:solidFill>
                  <a:srgbClr val="1F2433"/>
                </a:solidFill>
                <a:latin typeface="Segoe UI"/>
                <a:cs typeface="Nirmala UI"/>
                <a:ea typeface="Nirmala UI"/>
              </a:rPr>
              <a:t>with masked language modelling on IndicCorp v2 (23 Indic languages + English)</a:t>
            </a:r>
          </a:p>
          <a:p>
            <a:pPr algn="l">
              <a:lnSpc>
                <a:spcPct val="110000"/>
              </a:lnSpc>
              <a:spcAft>
                <a:spcPts val="6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Self-attention </a:t>
            </a:r>
            <a:r>
              <a:rPr sz="1400" b="0" i="0">
                <a:solidFill>
                  <a:srgbClr val="1F2433"/>
                </a:solidFill>
                <a:latin typeface="Segoe UI"/>
                <a:cs typeface="Nirmala UI"/>
                <a:ea typeface="Nirmala UI"/>
              </a:rPr>
              <a:t>lets each subword see the whole sentence, incl. its own case suffix</a:t>
            </a:r>
          </a:p>
          <a:p>
            <a:pPr algn="l">
              <a:lnSpc>
                <a:spcPct val="110000"/>
              </a:lnSpc>
              <a:spcAft>
                <a:spcPts val="6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All layers fine-tuned; </a:t>
            </a:r>
            <a:r>
              <a:rPr sz="1400" b="0" i="0">
                <a:solidFill>
                  <a:srgbClr val="1F2433"/>
                </a:solidFill>
                <a:latin typeface="Segoe UI"/>
                <a:cs typeface="Nirmala UI"/>
                <a:ea typeface="Nirmala UI"/>
              </a:rPr>
              <a:t>backbone switchable to MuRIL / mBERT in config.py</a:t>
            </a:r>
          </a:p>
        </p:txBody>
      </p:sp>
      <p:sp>
        <p:nvSpPr>
          <p:cNvPr id="25" name="Rounded Rectangle 24"/>
          <p:cNvSpPr/>
          <p:nvPr/>
        </p:nvSpPr>
        <p:spPr>
          <a:xfrm>
            <a:off x="6217920" y="3017520"/>
            <a:ext cx="5468112" cy="324612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154679"/>
            <a:ext cx="5010912"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Two output heads, same encoder</a:t>
            </a:r>
          </a:p>
        </p:txBody>
      </p:sp>
      <p:sp>
        <p:nvSpPr>
          <p:cNvPr id="27" name="TextBox 26"/>
          <p:cNvSpPr txBox="1"/>
          <p:nvPr/>
        </p:nvSpPr>
        <p:spPr>
          <a:xfrm>
            <a:off x="6446520" y="3520440"/>
            <a:ext cx="5029200" cy="2651760"/>
          </a:xfrm>
          <a:prstGeom prst="rect">
            <a:avLst/>
          </a:prstGeom>
          <a:noFill/>
        </p:spPr>
        <p:txBody>
          <a:bodyPr wrap="square" anchor="t" lIns="45720" rIns="45720">
            <a:spAutoFit/>
          </a:bodyPr>
          <a:lstStyle/>
          <a:p>
            <a:pPr algn="l">
              <a:lnSpc>
                <a:spcPct val="110000"/>
              </a:lnSpc>
              <a:spcAft>
                <a:spcPts val="200"/>
              </a:spcAft>
            </a:pPr>
            <a:r>
              <a:rPr sz="1500" b="1" i="0">
                <a:solidFill>
                  <a:srgbClr val="B7790A"/>
                </a:solidFill>
                <a:latin typeface="Segoe UI"/>
                <a:cs typeface="Nirmala UI"/>
                <a:ea typeface="Nirmala UI"/>
              </a:rPr>
              <a:t>Baseline (base-paper style)</a:t>
            </a:r>
          </a:p>
          <a:p>
            <a:pPr algn="l">
              <a:lnSpc>
                <a:spcPct val="110000"/>
              </a:lnSpc>
              <a:spcAft>
                <a:spcPts val="1200"/>
              </a:spcAft>
            </a:pPr>
            <a:r>
              <a:rPr sz="1400" b="0" i="0">
                <a:solidFill>
                  <a:srgbClr val="1F2433"/>
                </a:solidFill>
                <a:latin typeface="Segoe UI"/>
                <a:cs typeface="Nirmala UI"/>
                <a:ea typeface="Nirmala UI"/>
              </a:rPr>
              <a:t>Softmax per word, argmax. Inverse-frequency class-weighted cross-entropy.</a:t>
            </a:r>
          </a:p>
          <a:p>
            <a:pPr algn="l">
              <a:lnSpc>
                <a:spcPct val="110000"/>
              </a:lnSpc>
              <a:spcAft>
                <a:spcPts val="200"/>
              </a:spcAft>
            </a:pPr>
            <a:r>
              <a:rPr sz="1500" b="1" i="0">
                <a:solidFill>
                  <a:srgbClr val="10B981"/>
                </a:solidFill>
                <a:latin typeface="Segoe UI"/>
                <a:cs typeface="Nirmala UI"/>
                <a:ea typeface="Nirmala UI"/>
              </a:rPr>
              <a:t>Proposed (our extension)</a:t>
            </a:r>
          </a:p>
          <a:p>
            <a:pPr algn="l">
              <a:lnSpc>
                <a:spcPct val="110000"/>
              </a:lnSpc>
              <a:spcAft>
                <a:spcPts val="400"/>
              </a:spcAft>
            </a:pPr>
            <a:r>
              <a:rPr sz="1400" b="0" i="0">
                <a:solidFill>
                  <a:srgbClr val="1F2433"/>
                </a:solidFill>
                <a:latin typeface="Segoe UI"/>
                <a:cs typeface="Nirmala UI"/>
                <a:ea typeface="Nirmala UI"/>
              </a:rPr>
              <a:t>Linear-chain CRF: learns a 7×7 tag-transition matrix and decodes the whole sentence with Viterbi. Unweighted sequence NLL loss.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METHOD</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Handling agglutination: subword label alignment</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07</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7</a:t>
            </a:r>
          </a:p>
        </p:txBody>
      </p:sp>
      <p:sp>
        <p:nvSpPr>
          <p:cNvPr id="9" name="TextBox 8"/>
          <p:cNvSpPr txBox="1"/>
          <p:nvPr/>
        </p:nvSpPr>
        <p:spPr>
          <a:xfrm>
            <a:off x="502920" y="1280160"/>
            <a:ext cx="11155680" cy="731520"/>
          </a:xfrm>
          <a:prstGeom prst="rect">
            <a:avLst/>
          </a:prstGeom>
          <a:noFill/>
        </p:spPr>
        <p:txBody>
          <a:bodyPr wrap="square" anchor="t" lIns="45720" rIns="45720">
            <a:spAutoFit/>
          </a:bodyPr>
          <a:lstStyle/>
          <a:p>
            <a:pPr algn="l">
              <a:lnSpc>
                <a:spcPct val="110000"/>
              </a:lnSpc>
            </a:pPr>
            <a:r>
              <a:rPr sz="1600" b="0" i="0">
                <a:solidFill>
                  <a:srgbClr val="1F2433"/>
                </a:solidFill>
                <a:latin typeface="Segoe UI"/>
                <a:cs typeface="Nirmala UI"/>
                <a:ea typeface="Nirmala UI"/>
              </a:rPr>
              <a:t>The tokenizer splits words into subwords, so words and labels no longer line up 1:1. </a:t>
            </a:r>
            <a:r>
              <a:rPr sz="1600" b="1" i="0">
                <a:solidFill>
                  <a:srgbClr val="1F2433"/>
                </a:solidFill>
                <a:latin typeface="Segoe UI"/>
                <a:cs typeface="Nirmala UI"/>
                <a:ea typeface="Nirmala UI"/>
              </a:rPr>
              <a:t>Rule: the first subword of each word gets the word's tag; continuation subwords and special tokens get −100 (ignored by the loss).</a:t>
            </a:r>
          </a:p>
        </p:txBody>
      </p:sp>
      <p:graphicFrame>
        <p:nvGraphicFramePr>
          <p:cNvPr id="10" name="Table 9"/>
          <p:cNvGraphicFramePr>
            <a:graphicFrameLocks noGrp="1"/>
          </p:cNvGraphicFramePr>
          <p:nvPr/>
        </p:nvGraphicFramePr>
        <p:xfrm>
          <a:off x="502920" y="2194560"/>
          <a:ext cx="11183106" cy="1371600"/>
        </p:xfrm>
        <a:graphic>
          <a:graphicData uri="http://schemas.openxmlformats.org/drawingml/2006/table">
            <a:tbl>
              <a:tblPr firstRow="0" bandRow="0">
                <a:tableStyleId>{5940675A-B579-460E-94D1-54222C63F5DA}</a:tableStyleId>
              </a:tblPr>
              <a:tblGrid>
                <a:gridCol w="916648"/>
                <a:gridCol w="733318"/>
                <a:gridCol w="1374972"/>
                <a:gridCol w="1191643"/>
                <a:gridCol w="1329140"/>
                <a:gridCol w="733318"/>
                <a:gridCol w="1191643"/>
                <a:gridCol w="1604134"/>
                <a:gridCol w="1008313"/>
                <a:gridCol w="366659"/>
                <a:gridCol w="733318"/>
              </a:tblGrid>
              <a:tr h="457200">
                <a:tc>
                  <a:txBody>
                    <a:bodyPr wrap="square"/>
                    <a:lstStyle/>
                    <a:p>
                      <a:pPr algn="l">
                        <a:lnSpc>
                          <a:spcPct val="110000"/>
                        </a:lnSpc>
                      </a:pPr>
                      <a:r>
                        <a:rPr sz="1200" b="1" i="0">
                          <a:solidFill>
                            <a:srgbClr val="FFFFFF"/>
                          </a:solidFill>
                          <a:latin typeface="Segoe UI"/>
                          <a:cs typeface="Nirmala UI"/>
                          <a:ea typeface="Nirmala UI"/>
                        </a:rPr>
                        <a:t>Subword</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[CLS]</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കോൺഗ്രസ്</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സംസ്ഥാന</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അധ്യക്ഷൻ</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ജി</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പരമേശ്വര</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ഉപമുഖ്യമന്ത്രി</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##യാകും</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a:t>
                      </a:r>
                    </a:p>
                  </a:txBody>
                  <a:tcPr marL="73152" marR="73152" marT="27432" marB="27432" anchor="ctr">
                    <a:solidFill>
                      <a:srgbClr val="3F51B5"/>
                    </a:solidFill>
                  </a:tcPr>
                </a:tc>
                <a:tc>
                  <a:txBody>
                    <a:bodyPr wrap="square"/>
                    <a:lstStyle/>
                    <a:p>
                      <a:pPr algn="ctr">
                        <a:lnSpc>
                          <a:spcPct val="110000"/>
                        </a:lnSpc>
                      </a:pPr>
                      <a:r>
                        <a:rPr sz="1100" b="1" i="0">
                          <a:solidFill>
                            <a:srgbClr val="FFFFFF"/>
                          </a:solidFill>
                          <a:latin typeface="Nirmala UI"/>
                          <a:cs typeface="Nirmala UI"/>
                          <a:ea typeface="Nirmala UI"/>
                        </a:rPr>
                        <a:t>[SEP]</a:t>
                      </a:r>
                    </a:p>
                  </a:txBody>
                  <a:tcPr marL="73152" marR="73152" marT="27432" marB="27432" anchor="ctr">
                    <a:solidFill>
                      <a:srgbClr val="3F51B5"/>
                    </a:solidFill>
                  </a:tcPr>
                </a:tc>
              </a:tr>
              <a:tr h="457200">
                <a:tc>
                  <a:txBody>
                    <a:bodyPr wrap="square"/>
                    <a:lstStyle/>
                    <a:p>
                      <a:pPr algn="l">
                        <a:lnSpc>
                          <a:spcPct val="110000"/>
                        </a:lnSpc>
                      </a:pPr>
                      <a:r>
                        <a:rPr sz="1200" b="0" i="0">
                          <a:solidFill>
                            <a:srgbClr val="1F2433"/>
                          </a:solidFill>
                          <a:latin typeface="Segoe UI"/>
                          <a:cs typeface="Nirmala UI"/>
                          <a:ea typeface="Nirmala UI"/>
                        </a:rPr>
                        <a:t>word_id</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None</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0</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1</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2</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3</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4</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5</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5</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6</a:t>
                      </a:r>
                    </a:p>
                  </a:txBody>
                  <a:tcPr marL="73152" marR="73152" marT="27432" marB="27432" anchor="ctr">
                    <a:solidFill>
                      <a:srgbClr val="FFFFFF"/>
                    </a:solidFill>
                  </a:tcPr>
                </a:tc>
                <a:tc>
                  <a:txBody>
                    <a:bodyPr wrap="square"/>
                    <a:lstStyle/>
                    <a:p>
                      <a:pPr algn="ctr">
                        <a:lnSpc>
                          <a:spcPct val="110000"/>
                        </a:lnSpc>
                      </a:pPr>
                      <a:r>
                        <a:rPr sz="1200" b="0" i="0">
                          <a:solidFill>
                            <a:srgbClr val="1F2433"/>
                          </a:solidFill>
                          <a:latin typeface="Segoe UI"/>
                          <a:cs typeface="Nirmala UI"/>
                          <a:ea typeface="Nirmala UI"/>
                        </a:rPr>
                        <a:t>None</a:t>
                      </a:r>
                    </a:p>
                  </a:txBody>
                  <a:tcPr marL="73152" marR="73152" marT="27432" marB="27432" anchor="ctr">
                    <a:solidFill>
                      <a:srgbClr val="FFFFFF"/>
                    </a:solidFill>
                  </a:tcPr>
                </a:tc>
              </a:tr>
              <a:tr h="457200">
                <a:tc>
                  <a:txBody>
                    <a:bodyPr wrap="square"/>
                    <a:lstStyle/>
                    <a:p>
                      <a:pPr algn="l">
                        <a:lnSpc>
                          <a:spcPct val="110000"/>
                        </a:lnSpc>
                      </a:pPr>
                      <a:r>
                        <a:rPr sz="1200" b="0" i="0">
                          <a:solidFill>
                            <a:srgbClr val="1F2433"/>
                          </a:solidFill>
                          <a:latin typeface="Segoe UI"/>
                          <a:cs typeface="Nirmala UI"/>
                          <a:ea typeface="Nirmala UI"/>
                        </a:rPr>
                        <a:t>Label</a:t>
                      </a:r>
                    </a:p>
                  </a:txBody>
                  <a:tcPr marL="73152" marR="73152" marT="27432" marB="27432" anchor="ctr">
                    <a:solidFill>
                      <a:srgbClr val="F4F5FB"/>
                    </a:solidFill>
                  </a:tcPr>
                </a:tc>
                <a:tc>
                  <a:txBody>
                    <a:bodyPr wrap="square"/>
                    <a:lstStyle/>
                    <a:p>
                      <a:pPr algn="ctr">
                        <a:lnSpc>
                          <a:spcPct val="110000"/>
                        </a:lnSpc>
                      </a:pPr>
                      <a:r>
                        <a:rPr sz="1200" b="1" i="0">
                          <a:solidFill>
                            <a:srgbClr val="9AA0B4"/>
                          </a:solidFill>
                          <a:latin typeface="Segoe UI"/>
                          <a:cs typeface="Nirmala UI"/>
                          <a:ea typeface="Nirmala UI"/>
                        </a:rPr>
                        <a:t>−100</a:t>
                      </a:r>
                    </a:p>
                  </a:txBody>
                  <a:tcPr marL="73152" marR="73152" marT="27432" marB="27432" anchor="ctr">
                    <a:solidFill>
                      <a:srgbClr val="F4F5FB"/>
                    </a:solidFill>
                  </a:tcPr>
                </a:tc>
                <a:tc>
                  <a:txBody>
                    <a:bodyPr wrap="square"/>
                    <a:lstStyle/>
                    <a:p>
                      <a:pPr algn="ctr">
                        <a:lnSpc>
                          <a:spcPct val="110000"/>
                        </a:lnSpc>
                      </a:pPr>
                      <a:r>
                        <a:rPr sz="1200" b="1" i="0">
                          <a:solidFill>
                            <a:srgbClr val="047857"/>
                          </a:solidFill>
                          <a:latin typeface="Segoe UI"/>
                          <a:cs typeface="Nirmala UI"/>
                          <a:ea typeface="Nirmala UI"/>
                        </a:rPr>
                        <a:t>B-ORG</a:t>
                      </a:r>
                    </a:p>
                  </a:txBody>
                  <a:tcPr marL="73152" marR="73152" marT="27432" marB="27432" anchor="ctr">
                    <a:solidFill>
                      <a:srgbClr val="F4F5FB"/>
                    </a:solidFill>
                  </a:tcPr>
                </a:tc>
                <a:tc>
                  <a:txBody>
                    <a:bodyPr wrap="square"/>
                    <a:lstStyle/>
                    <a:p>
                      <a:pPr algn="ctr">
                        <a:lnSpc>
                          <a:spcPct val="110000"/>
                        </a:lnSpc>
                      </a:pPr>
                      <a:r>
                        <a:rPr sz="1200" b="1" i="0">
                          <a:solidFill>
                            <a:srgbClr val="1F2433"/>
                          </a:solidFill>
                          <a:latin typeface="Segoe UI"/>
                          <a:cs typeface="Nirmala UI"/>
                          <a:ea typeface="Nirmala UI"/>
                        </a:rPr>
                        <a:t>O</a:t>
                      </a:r>
                    </a:p>
                  </a:txBody>
                  <a:tcPr marL="73152" marR="73152" marT="27432" marB="27432" anchor="ctr">
                    <a:solidFill>
                      <a:srgbClr val="F4F5FB"/>
                    </a:solidFill>
                  </a:tcPr>
                </a:tc>
                <a:tc>
                  <a:txBody>
                    <a:bodyPr wrap="square"/>
                    <a:lstStyle/>
                    <a:p>
                      <a:pPr algn="ctr">
                        <a:lnSpc>
                          <a:spcPct val="110000"/>
                        </a:lnSpc>
                      </a:pPr>
                      <a:r>
                        <a:rPr sz="1200" b="1" i="0">
                          <a:solidFill>
                            <a:srgbClr val="1F2433"/>
                          </a:solidFill>
                          <a:latin typeface="Segoe UI"/>
                          <a:cs typeface="Nirmala UI"/>
                          <a:ea typeface="Nirmala UI"/>
                        </a:rPr>
                        <a:t>O</a:t>
                      </a:r>
                    </a:p>
                  </a:txBody>
                  <a:tcPr marL="73152" marR="73152" marT="27432" marB="27432" anchor="ctr">
                    <a:solidFill>
                      <a:srgbClr val="F4F5FB"/>
                    </a:solidFill>
                  </a:tcPr>
                </a:tc>
                <a:tc>
                  <a:txBody>
                    <a:bodyPr wrap="square"/>
                    <a:lstStyle/>
                    <a:p>
                      <a:pPr algn="ctr">
                        <a:lnSpc>
                          <a:spcPct val="110000"/>
                        </a:lnSpc>
                      </a:pPr>
                      <a:r>
                        <a:rPr sz="1200" b="1" i="0">
                          <a:solidFill>
                            <a:srgbClr val="3B82F6"/>
                          </a:solidFill>
                          <a:latin typeface="Segoe UI"/>
                          <a:cs typeface="Nirmala UI"/>
                          <a:ea typeface="Nirmala UI"/>
                        </a:rPr>
                        <a:t>B-PER</a:t>
                      </a:r>
                    </a:p>
                  </a:txBody>
                  <a:tcPr marL="73152" marR="73152" marT="27432" marB="27432" anchor="ctr">
                    <a:solidFill>
                      <a:srgbClr val="F4F5FB"/>
                    </a:solidFill>
                  </a:tcPr>
                </a:tc>
                <a:tc>
                  <a:txBody>
                    <a:bodyPr wrap="square"/>
                    <a:lstStyle/>
                    <a:p>
                      <a:pPr algn="ctr">
                        <a:lnSpc>
                          <a:spcPct val="110000"/>
                        </a:lnSpc>
                      </a:pPr>
                      <a:r>
                        <a:rPr sz="1200" b="1" i="0">
                          <a:solidFill>
                            <a:srgbClr val="3B82F6"/>
                          </a:solidFill>
                          <a:latin typeface="Segoe UI"/>
                          <a:cs typeface="Nirmala UI"/>
                          <a:ea typeface="Nirmala UI"/>
                        </a:rPr>
                        <a:t>I-PER</a:t>
                      </a:r>
                    </a:p>
                  </a:txBody>
                  <a:tcPr marL="73152" marR="73152" marT="27432" marB="27432" anchor="ctr">
                    <a:solidFill>
                      <a:srgbClr val="F4F5FB"/>
                    </a:solidFill>
                  </a:tcPr>
                </a:tc>
                <a:tc>
                  <a:txBody>
                    <a:bodyPr wrap="square"/>
                    <a:lstStyle/>
                    <a:p>
                      <a:pPr algn="ctr">
                        <a:lnSpc>
                          <a:spcPct val="110000"/>
                        </a:lnSpc>
                      </a:pPr>
                      <a:r>
                        <a:rPr sz="1200" b="1" i="0">
                          <a:solidFill>
                            <a:srgbClr val="1F2433"/>
                          </a:solidFill>
                          <a:latin typeface="Segoe UI"/>
                          <a:cs typeface="Nirmala UI"/>
                          <a:ea typeface="Nirmala UI"/>
                        </a:rPr>
                        <a:t>O</a:t>
                      </a:r>
                    </a:p>
                  </a:txBody>
                  <a:tcPr marL="73152" marR="73152" marT="27432" marB="27432" anchor="ctr">
                    <a:solidFill>
                      <a:srgbClr val="F4F5FB"/>
                    </a:solidFill>
                  </a:tcPr>
                </a:tc>
                <a:tc>
                  <a:txBody>
                    <a:bodyPr wrap="square"/>
                    <a:lstStyle/>
                    <a:p>
                      <a:pPr algn="ctr">
                        <a:lnSpc>
                          <a:spcPct val="110000"/>
                        </a:lnSpc>
                      </a:pPr>
                      <a:r>
                        <a:rPr sz="1200" b="1" i="0">
                          <a:solidFill>
                            <a:srgbClr val="9AA0B4"/>
                          </a:solidFill>
                          <a:latin typeface="Segoe UI"/>
                          <a:cs typeface="Nirmala UI"/>
                          <a:ea typeface="Nirmala UI"/>
                        </a:rPr>
                        <a:t>−100</a:t>
                      </a:r>
                    </a:p>
                  </a:txBody>
                  <a:tcPr marL="73152" marR="73152" marT="27432" marB="27432" anchor="ctr">
                    <a:solidFill>
                      <a:srgbClr val="F4F5FB"/>
                    </a:solidFill>
                  </a:tcPr>
                </a:tc>
                <a:tc>
                  <a:txBody>
                    <a:bodyPr wrap="square"/>
                    <a:lstStyle/>
                    <a:p>
                      <a:pPr algn="ctr">
                        <a:lnSpc>
                          <a:spcPct val="110000"/>
                        </a:lnSpc>
                      </a:pPr>
                      <a:r>
                        <a:rPr sz="1200" b="1" i="0">
                          <a:solidFill>
                            <a:srgbClr val="1F2433"/>
                          </a:solidFill>
                          <a:latin typeface="Segoe UI"/>
                          <a:cs typeface="Nirmala UI"/>
                          <a:ea typeface="Nirmala UI"/>
                        </a:rPr>
                        <a:t>O</a:t>
                      </a:r>
                    </a:p>
                  </a:txBody>
                  <a:tcPr marL="73152" marR="73152" marT="27432" marB="27432" anchor="ctr">
                    <a:solidFill>
                      <a:srgbClr val="F4F5FB"/>
                    </a:solidFill>
                  </a:tcPr>
                </a:tc>
                <a:tc>
                  <a:txBody>
                    <a:bodyPr wrap="square"/>
                    <a:lstStyle/>
                    <a:p>
                      <a:pPr algn="ctr">
                        <a:lnSpc>
                          <a:spcPct val="110000"/>
                        </a:lnSpc>
                      </a:pPr>
                      <a:r>
                        <a:rPr sz="1200" b="1" i="0">
                          <a:solidFill>
                            <a:srgbClr val="9AA0B4"/>
                          </a:solidFill>
                          <a:latin typeface="Segoe UI"/>
                          <a:cs typeface="Nirmala UI"/>
                          <a:ea typeface="Nirmala UI"/>
                        </a:rPr>
                        <a:t>−100</a:t>
                      </a:r>
                    </a:p>
                  </a:txBody>
                  <a:tcPr marL="73152" marR="73152" marT="27432" marB="27432" anchor="ctr">
                    <a:solidFill>
                      <a:srgbClr val="F4F5FB"/>
                    </a:solidFill>
                  </a:tcPr>
                </a:tc>
              </a:tr>
            </a:tbl>
          </a:graphicData>
        </a:graphic>
      </p:graphicFrame>
      <p:sp>
        <p:nvSpPr>
          <p:cNvPr id="11" name="TextBox 10"/>
          <p:cNvSpPr txBox="1"/>
          <p:nvPr/>
        </p:nvSpPr>
        <p:spPr>
          <a:xfrm>
            <a:off x="502920" y="3703320"/>
            <a:ext cx="11155680" cy="365760"/>
          </a:xfrm>
          <a:prstGeom prst="rect">
            <a:avLst/>
          </a:prstGeom>
          <a:noFill/>
        </p:spPr>
        <p:txBody>
          <a:bodyPr wrap="square" anchor="t" lIns="45720" rIns="45720">
            <a:spAutoFit/>
          </a:bodyPr>
          <a:lstStyle/>
          <a:p>
            <a:pPr algn="l">
              <a:lnSpc>
                <a:spcPct val="110000"/>
              </a:lnSpc>
            </a:pPr>
            <a:r>
              <a:rPr sz="1200" b="0" i="1">
                <a:solidFill>
                  <a:srgbClr val="636A80"/>
                </a:solidFill>
                <a:latin typeface="Segoe UI"/>
                <a:cs typeface="Nirmala UI"/>
                <a:ea typeface="Nirmala UI"/>
              </a:rPr>
              <a:t>Real tokenizer output for test sentence 0: 7 words → exactly 7 supervised positions (verified in test_dataset.py and notebook 01).</a:t>
            </a:r>
          </a:p>
        </p:txBody>
      </p:sp>
      <p:sp>
        <p:nvSpPr>
          <p:cNvPr id="12" name="Rounded Rectangle 11"/>
          <p:cNvSpPr/>
          <p:nvPr/>
        </p:nvSpPr>
        <p:spPr>
          <a:xfrm>
            <a:off x="502920" y="4206240"/>
            <a:ext cx="5486400" cy="205740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343400"/>
            <a:ext cx="502920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Why first-subword?</a:t>
            </a:r>
          </a:p>
        </p:txBody>
      </p:sp>
      <p:sp>
        <p:nvSpPr>
          <p:cNvPr id="14" name="TextBox 13"/>
          <p:cNvSpPr txBox="1"/>
          <p:nvPr/>
        </p:nvSpPr>
        <p:spPr>
          <a:xfrm>
            <a:off x="731520" y="4709160"/>
            <a:ext cx="5120640" cy="1554480"/>
          </a:xfrm>
          <a:prstGeom prst="rect">
            <a:avLst/>
          </a:prstGeom>
          <a:noFill/>
        </p:spPr>
        <p:txBody>
          <a:bodyPr wrap="square" anchor="t" lIns="45720" rIns="45720">
            <a:spAutoFit/>
          </a:bodyPr>
          <a:lstStyle/>
          <a:p>
            <a:pPr algn="l">
              <a:lnSpc>
                <a:spcPct val="110000"/>
              </a:lnSpc>
              <a:spcAft>
                <a:spcPts val="5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One prediction per word → train and evaluate at word level</a:t>
            </a:r>
          </a:p>
          <a:p>
            <a:pPr algn="l">
              <a:lnSpc>
                <a:spcPct val="110000"/>
              </a:lnSpc>
              <a:spcAft>
                <a:spcPts val="5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Long words aren't over-counted in the loss</a:t>
            </a:r>
          </a:p>
          <a:p>
            <a:pPr algn="l">
              <a:lnSpc>
                <a:spcPct val="110000"/>
              </a:lnSpc>
              <a:spcAft>
                <a:spcPts val="5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Attention still lets the first piece “see” its suffix</a:t>
            </a:r>
          </a:p>
        </p:txBody>
      </p:sp>
      <p:sp>
        <p:nvSpPr>
          <p:cNvPr id="15" name="Rounded Rectangle 14"/>
          <p:cNvSpPr/>
          <p:nvPr/>
        </p:nvSpPr>
        <p:spPr>
          <a:xfrm>
            <a:off x="6217920" y="4206240"/>
            <a:ext cx="5468112" cy="205740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343400"/>
            <a:ext cx="5010912"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Why not a morphological analyser?</a:t>
            </a:r>
          </a:p>
        </p:txBody>
      </p:sp>
      <p:sp>
        <p:nvSpPr>
          <p:cNvPr id="17" name="TextBox 16"/>
          <p:cNvSpPr txBox="1"/>
          <p:nvPr/>
        </p:nvSpPr>
        <p:spPr>
          <a:xfrm>
            <a:off x="6446520" y="4709160"/>
            <a:ext cx="5120640" cy="1554480"/>
          </a:xfrm>
          <a:prstGeom prst="rect">
            <a:avLst/>
          </a:prstGeom>
          <a:noFill/>
        </p:spPr>
        <p:txBody>
          <a:bodyPr wrap="square" anchor="t" lIns="45720" rIns="45720">
            <a:spAutoFit/>
          </a:bodyPr>
          <a:lstStyle/>
          <a:p>
            <a:pPr algn="l">
              <a:lnSpc>
                <a:spcPct val="110000"/>
              </a:lnSpc>
              <a:spcAft>
                <a:spcPts val="5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Gold tags are on surface words anyway</a:t>
            </a:r>
          </a:p>
          <a:p>
            <a:pPr algn="l">
              <a:lnSpc>
                <a:spcPct val="110000"/>
              </a:lnSpc>
              <a:spcAft>
                <a:spcPts val="5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Case suffix is useful context (locative → place)</a:t>
            </a:r>
          </a:p>
          <a:p>
            <a:pPr algn="l">
              <a:lnSpc>
                <a:spcPct val="110000"/>
              </a:lnSpc>
              <a:spcAft>
                <a:spcPts val="5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Analyser errors would compound; subwords are free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METHOD</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Why a CRF? Tagging the sentence jointly</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08</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8</a:t>
            </a:r>
          </a:p>
        </p:txBody>
      </p:sp>
      <p:sp>
        <p:nvSpPr>
          <p:cNvPr id="9" name="TextBox 8"/>
          <p:cNvSpPr txBox="1"/>
          <p:nvPr/>
        </p:nvSpPr>
        <p:spPr>
          <a:xfrm>
            <a:off x="502920" y="1280160"/>
            <a:ext cx="5669280" cy="365760"/>
          </a:xfrm>
          <a:prstGeom prst="rect">
            <a:avLst/>
          </a:prstGeom>
          <a:noFill/>
        </p:spPr>
        <p:txBody>
          <a:bodyPr wrap="square" anchor="t" lIns="45720" rIns="45720">
            <a:spAutoFit/>
          </a:bodyPr>
          <a:lstStyle/>
          <a:p>
            <a:pPr algn="l">
              <a:lnSpc>
                <a:spcPct val="110000"/>
              </a:lnSpc>
            </a:pPr>
            <a:r>
              <a:rPr sz="1700" b="1" i="0">
                <a:solidFill>
                  <a:srgbClr val="B91C1C"/>
                </a:solidFill>
                <a:latin typeface="Segoe UI"/>
                <a:cs typeface="Nirmala UI"/>
                <a:ea typeface="Nirmala UI"/>
              </a:rPr>
              <a:t>Softmax picks each tag on its own</a:t>
            </a:r>
          </a:p>
        </p:txBody>
      </p:sp>
      <p:sp>
        <p:nvSpPr>
          <p:cNvPr id="10" name="Rounded Rectangle 9"/>
          <p:cNvSpPr/>
          <p:nvPr/>
        </p:nvSpPr>
        <p:spPr>
          <a:xfrm>
            <a:off x="502920" y="1783080"/>
            <a:ext cx="164592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19656"/>
            <a:ext cx="1645920" cy="384048"/>
          </a:xfrm>
          <a:prstGeom prst="rect">
            <a:avLst/>
          </a:prstGeom>
          <a:noFill/>
        </p:spPr>
        <p:txBody>
          <a:bodyPr wrap="square" anchor="ctr" lIns="45720" rIns="45720">
            <a:spAutoFit/>
          </a:bodyPr>
          <a:lstStyle/>
          <a:p>
            <a:pPr algn="ctr">
              <a:lnSpc>
                <a:spcPct val="110000"/>
              </a:lnSpc>
            </a:pPr>
            <a:r>
              <a:rPr sz="1500" b="0" i="0">
                <a:solidFill>
                  <a:srgbClr val="1F2433"/>
                </a:solidFill>
                <a:latin typeface="Nirmala UI"/>
                <a:cs typeface="Nirmala UI"/>
                <a:ea typeface="Nirmala UI"/>
              </a:rPr>
              <a:t>പിണറായി</a:t>
            </a:r>
          </a:p>
        </p:txBody>
      </p:sp>
      <p:sp>
        <p:nvSpPr>
          <p:cNvPr id="12" name="Rounded Rectangle 11"/>
          <p:cNvSpPr/>
          <p:nvPr/>
        </p:nvSpPr>
        <p:spPr>
          <a:xfrm>
            <a:off x="594360" y="2331720"/>
            <a:ext cx="1463040" cy="347472"/>
          </a:xfrm>
          <a:prstGeom prst="roundRect">
            <a:avLst>
              <a:gd name="adj" fmla="val 50000"/>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O</a:t>
            </a:r>
          </a:p>
        </p:txBody>
      </p:sp>
      <p:sp>
        <p:nvSpPr>
          <p:cNvPr id="13" name="Rounded Rectangle 12"/>
          <p:cNvSpPr/>
          <p:nvPr/>
        </p:nvSpPr>
        <p:spPr>
          <a:xfrm>
            <a:off x="2286000" y="1783080"/>
            <a:ext cx="164592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0" y="1819656"/>
            <a:ext cx="1645920" cy="384048"/>
          </a:xfrm>
          <a:prstGeom prst="rect">
            <a:avLst/>
          </a:prstGeom>
          <a:noFill/>
        </p:spPr>
        <p:txBody>
          <a:bodyPr wrap="square" anchor="ctr" lIns="45720" rIns="45720">
            <a:spAutoFit/>
          </a:bodyPr>
          <a:lstStyle/>
          <a:p>
            <a:pPr algn="ctr">
              <a:lnSpc>
                <a:spcPct val="110000"/>
              </a:lnSpc>
            </a:pPr>
            <a:r>
              <a:rPr sz="1500" b="0" i="0">
                <a:solidFill>
                  <a:srgbClr val="1F2433"/>
                </a:solidFill>
                <a:latin typeface="Nirmala UI"/>
                <a:cs typeface="Nirmala UI"/>
                <a:ea typeface="Nirmala UI"/>
              </a:rPr>
              <a:t>വിജയൻ</a:t>
            </a:r>
          </a:p>
        </p:txBody>
      </p:sp>
      <p:sp>
        <p:nvSpPr>
          <p:cNvPr id="15" name="Rounded Rectangle 14"/>
          <p:cNvSpPr/>
          <p:nvPr/>
        </p:nvSpPr>
        <p:spPr>
          <a:xfrm>
            <a:off x="2377440" y="2331720"/>
            <a:ext cx="1463040" cy="347472"/>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I-PER</a:t>
            </a:r>
          </a:p>
        </p:txBody>
      </p:sp>
      <p:sp>
        <p:nvSpPr>
          <p:cNvPr id="16" name="Rounded Rectangle 15"/>
          <p:cNvSpPr/>
          <p:nvPr/>
        </p:nvSpPr>
        <p:spPr>
          <a:xfrm>
            <a:off x="4069080" y="1783080"/>
            <a:ext cx="164592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69080" y="1819656"/>
            <a:ext cx="1645920" cy="384048"/>
          </a:xfrm>
          <a:prstGeom prst="rect">
            <a:avLst/>
          </a:prstGeom>
          <a:noFill/>
        </p:spPr>
        <p:txBody>
          <a:bodyPr wrap="square" anchor="ctr" lIns="45720" rIns="45720">
            <a:spAutoFit/>
          </a:bodyPr>
          <a:lstStyle/>
          <a:p>
            <a:pPr algn="ctr">
              <a:lnSpc>
                <a:spcPct val="110000"/>
              </a:lnSpc>
            </a:pPr>
            <a:r>
              <a:rPr sz="1500" b="0" i="0">
                <a:solidFill>
                  <a:srgbClr val="1F2433"/>
                </a:solidFill>
                <a:latin typeface="Nirmala UI"/>
                <a:cs typeface="Nirmala UI"/>
                <a:ea typeface="Nirmala UI"/>
              </a:rPr>
              <a:t>സംസാരിച്ചു</a:t>
            </a:r>
          </a:p>
        </p:txBody>
      </p:sp>
      <p:sp>
        <p:nvSpPr>
          <p:cNvPr id="18" name="Rounded Rectangle 17"/>
          <p:cNvSpPr/>
          <p:nvPr/>
        </p:nvSpPr>
        <p:spPr>
          <a:xfrm>
            <a:off x="4160520" y="2331720"/>
            <a:ext cx="1463040" cy="347472"/>
          </a:xfrm>
          <a:prstGeom prst="roundRect">
            <a:avLst>
              <a:gd name="adj" fmla="val 50000"/>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O</a:t>
            </a:r>
          </a:p>
        </p:txBody>
      </p:sp>
      <p:sp>
        <p:nvSpPr>
          <p:cNvPr id="19" name="TextBox 18"/>
          <p:cNvSpPr txBox="1"/>
          <p:nvPr/>
        </p:nvSpPr>
        <p:spPr>
          <a:xfrm>
            <a:off x="502920" y="2834640"/>
            <a:ext cx="5669280" cy="548640"/>
          </a:xfrm>
          <a:prstGeom prst="rect">
            <a:avLst/>
          </a:prstGeom>
          <a:noFill/>
        </p:spPr>
        <p:txBody>
          <a:bodyPr wrap="square" anchor="t" lIns="45720" rIns="45720">
            <a:spAutoFit/>
          </a:bodyPr>
          <a:lstStyle/>
          <a:p>
            <a:pPr algn="l">
              <a:lnSpc>
                <a:spcPct val="110000"/>
              </a:lnSpc>
            </a:pPr>
            <a:r>
              <a:rPr sz="1400" b="1" i="0">
                <a:solidFill>
                  <a:srgbClr val="B91C1C"/>
                </a:solidFill>
                <a:latin typeface="Segoe UI"/>
                <a:cs typeface="Nirmala UI"/>
                <a:ea typeface="Nirmala UI"/>
              </a:rPr>
              <a:t>✗  O → I-PER is an invalid sequence. Under strict scoring the name is lost.</a:t>
            </a:r>
          </a:p>
        </p:txBody>
      </p:sp>
      <p:sp>
        <p:nvSpPr>
          <p:cNvPr id="20" name="TextBox 19"/>
          <p:cNvSpPr txBox="1"/>
          <p:nvPr/>
        </p:nvSpPr>
        <p:spPr>
          <a:xfrm>
            <a:off x="6355080" y="1280160"/>
            <a:ext cx="5486400" cy="365760"/>
          </a:xfrm>
          <a:prstGeom prst="rect">
            <a:avLst/>
          </a:prstGeom>
          <a:noFill/>
        </p:spPr>
        <p:txBody>
          <a:bodyPr wrap="square" anchor="t" lIns="45720" rIns="45720">
            <a:spAutoFit/>
          </a:bodyPr>
          <a:lstStyle/>
          <a:p>
            <a:pPr algn="l">
              <a:lnSpc>
                <a:spcPct val="110000"/>
              </a:lnSpc>
            </a:pPr>
            <a:r>
              <a:rPr sz="1700" b="1" i="0">
                <a:solidFill>
                  <a:srgbClr val="047857"/>
                </a:solidFill>
                <a:latin typeface="Segoe UI"/>
                <a:cs typeface="Nirmala UI"/>
                <a:ea typeface="Nirmala UI"/>
              </a:rPr>
              <a:t>CRF + Viterbi picks the best whole path</a:t>
            </a:r>
          </a:p>
        </p:txBody>
      </p:sp>
      <p:sp>
        <p:nvSpPr>
          <p:cNvPr id="21" name="Rounded Rectangle 20"/>
          <p:cNvSpPr/>
          <p:nvPr/>
        </p:nvSpPr>
        <p:spPr>
          <a:xfrm>
            <a:off x="6355080" y="1783080"/>
            <a:ext cx="164592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819656"/>
            <a:ext cx="1645920" cy="384048"/>
          </a:xfrm>
          <a:prstGeom prst="rect">
            <a:avLst/>
          </a:prstGeom>
          <a:noFill/>
        </p:spPr>
        <p:txBody>
          <a:bodyPr wrap="square" anchor="ctr" lIns="45720" rIns="45720">
            <a:spAutoFit/>
          </a:bodyPr>
          <a:lstStyle/>
          <a:p>
            <a:pPr algn="ctr">
              <a:lnSpc>
                <a:spcPct val="110000"/>
              </a:lnSpc>
            </a:pPr>
            <a:r>
              <a:rPr sz="1500" b="0" i="0">
                <a:solidFill>
                  <a:srgbClr val="1F2433"/>
                </a:solidFill>
                <a:latin typeface="Nirmala UI"/>
                <a:cs typeface="Nirmala UI"/>
                <a:ea typeface="Nirmala UI"/>
              </a:rPr>
              <a:t>പിണറായി</a:t>
            </a:r>
          </a:p>
        </p:txBody>
      </p:sp>
      <p:sp>
        <p:nvSpPr>
          <p:cNvPr id="23" name="Rounded Rectangle 22"/>
          <p:cNvSpPr/>
          <p:nvPr/>
        </p:nvSpPr>
        <p:spPr>
          <a:xfrm>
            <a:off x="6446520" y="2331720"/>
            <a:ext cx="1463040" cy="347472"/>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B-PER</a:t>
            </a:r>
          </a:p>
        </p:txBody>
      </p:sp>
      <p:sp>
        <p:nvSpPr>
          <p:cNvPr id="24" name="Rounded Rectangle 23"/>
          <p:cNvSpPr/>
          <p:nvPr/>
        </p:nvSpPr>
        <p:spPr>
          <a:xfrm>
            <a:off x="8138160" y="1783080"/>
            <a:ext cx="164592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1819656"/>
            <a:ext cx="1645920" cy="384048"/>
          </a:xfrm>
          <a:prstGeom prst="rect">
            <a:avLst/>
          </a:prstGeom>
          <a:noFill/>
        </p:spPr>
        <p:txBody>
          <a:bodyPr wrap="square" anchor="ctr" lIns="45720" rIns="45720">
            <a:spAutoFit/>
          </a:bodyPr>
          <a:lstStyle/>
          <a:p>
            <a:pPr algn="ctr">
              <a:lnSpc>
                <a:spcPct val="110000"/>
              </a:lnSpc>
            </a:pPr>
            <a:r>
              <a:rPr sz="1500" b="0" i="0">
                <a:solidFill>
                  <a:srgbClr val="1F2433"/>
                </a:solidFill>
                <a:latin typeface="Nirmala UI"/>
                <a:cs typeface="Nirmala UI"/>
                <a:ea typeface="Nirmala UI"/>
              </a:rPr>
              <a:t>വിജയൻ</a:t>
            </a:r>
          </a:p>
        </p:txBody>
      </p:sp>
      <p:sp>
        <p:nvSpPr>
          <p:cNvPr id="26" name="Rounded Rectangle 25"/>
          <p:cNvSpPr/>
          <p:nvPr/>
        </p:nvSpPr>
        <p:spPr>
          <a:xfrm>
            <a:off x="8229600" y="2331720"/>
            <a:ext cx="1463040" cy="347472"/>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I-PER</a:t>
            </a:r>
          </a:p>
        </p:txBody>
      </p:sp>
      <p:sp>
        <p:nvSpPr>
          <p:cNvPr id="27" name="Rounded Rectangle 26"/>
          <p:cNvSpPr/>
          <p:nvPr/>
        </p:nvSpPr>
        <p:spPr>
          <a:xfrm>
            <a:off x="9921240" y="1783080"/>
            <a:ext cx="1645920" cy="457200"/>
          </a:xfrm>
          <a:prstGeom prst="roundRect">
            <a:avLst>
              <a:gd name="adj" fmla="val 15000"/>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1819656"/>
            <a:ext cx="1645920" cy="384048"/>
          </a:xfrm>
          <a:prstGeom prst="rect">
            <a:avLst/>
          </a:prstGeom>
          <a:noFill/>
        </p:spPr>
        <p:txBody>
          <a:bodyPr wrap="square" anchor="ctr" lIns="45720" rIns="45720">
            <a:spAutoFit/>
          </a:bodyPr>
          <a:lstStyle/>
          <a:p>
            <a:pPr algn="ctr">
              <a:lnSpc>
                <a:spcPct val="110000"/>
              </a:lnSpc>
            </a:pPr>
            <a:r>
              <a:rPr sz="1500" b="0" i="0">
                <a:solidFill>
                  <a:srgbClr val="1F2433"/>
                </a:solidFill>
                <a:latin typeface="Nirmala UI"/>
                <a:cs typeface="Nirmala UI"/>
                <a:ea typeface="Nirmala UI"/>
              </a:rPr>
              <a:t>സംസാരിച്ചു</a:t>
            </a:r>
          </a:p>
        </p:txBody>
      </p:sp>
      <p:sp>
        <p:nvSpPr>
          <p:cNvPr id="29" name="Rounded Rectangle 28"/>
          <p:cNvSpPr/>
          <p:nvPr/>
        </p:nvSpPr>
        <p:spPr>
          <a:xfrm>
            <a:off x="10012680" y="2331720"/>
            <a:ext cx="1463040" cy="347472"/>
          </a:xfrm>
          <a:prstGeom prst="roundRect">
            <a:avLst>
              <a:gd name="adj" fmla="val 50000"/>
            </a:avLst>
          </a:prstGeom>
          <a:solidFill>
            <a:srgbClr val="9AA0B4"/>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a:lstStyle/>
          <a:p>
            <a:pPr algn="ctr">
              <a:lnSpc>
                <a:spcPct val="110000"/>
              </a:lnSpc>
            </a:pPr>
            <a:r>
              <a:rPr sz="1200" b="1" i="0">
                <a:solidFill>
                  <a:srgbClr val="FFFFFF"/>
                </a:solidFill>
                <a:latin typeface="Segoe UI"/>
                <a:cs typeface="Nirmala UI"/>
                <a:ea typeface="Nirmala UI"/>
              </a:rPr>
              <a:t>O</a:t>
            </a:r>
          </a:p>
        </p:txBody>
      </p:sp>
      <p:sp>
        <p:nvSpPr>
          <p:cNvPr id="30" name="TextBox 29"/>
          <p:cNvSpPr txBox="1"/>
          <p:nvPr/>
        </p:nvSpPr>
        <p:spPr>
          <a:xfrm>
            <a:off x="6355080" y="2834640"/>
            <a:ext cx="5394960" cy="548640"/>
          </a:xfrm>
          <a:prstGeom prst="rect">
            <a:avLst/>
          </a:prstGeom>
          <a:noFill/>
        </p:spPr>
        <p:txBody>
          <a:bodyPr wrap="square" anchor="t" lIns="45720" rIns="45720">
            <a:spAutoFit/>
          </a:bodyPr>
          <a:lstStyle/>
          <a:p>
            <a:pPr algn="l">
              <a:lnSpc>
                <a:spcPct val="110000"/>
              </a:lnSpc>
            </a:pPr>
            <a:r>
              <a:rPr sz="1400" b="1" i="0">
                <a:solidFill>
                  <a:srgbClr val="047857"/>
                </a:solidFill>
                <a:latin typeface="Segoe UI"/>
                <a:cs typeface="Nirmala UI"/>
                <a:ea typeface="Nirmala UI"/>
              </a:rPr>
              <a:t>✓  Strong I-PER on word 2 only pays off if word 1 is B-PER.</a:t>
            </a:r>
          </a:p>
        </p:txBody>
      </p:sp>
      <p:sp>
        <p:nvSpPr>
          <p:cNvPr id="31" name="Rounded Rectangle 30"/>
          <p:cNvSpPr/>
          <p:nvPr/>
        </p:nvSpPr>
        <p:spPr>
          <a:xfrm>
            <a:off x="502920" y="3520440"/>
            <a:ext cx="6675120" cy="274320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657600"/>
            <a:ext cx="621792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How it works</a:t>
            </a:r>
          </a:p>
        </p:txBody>
      </p:sp>
      <p:sp>
        <p:nvSpPr>
          <p:cNvPr id="33" name="TextBox 32"/>
          <p:cNvSpPr txBox="1"/>
          <p:nvPr/>
        </p:nvSpPr>
        <p:spPr>
          <a:xfrm>
            <a:off x="731520" y="4023360"/>
            <a:ext cx="6309360" cy="2194560"/>
          </a:xfrm>
          <a:prstGeom prst="rect">
            <a:avLst/>
          </a:prstGeom>
          <a:noFill/>
        </p:spPr>
        <p:txBody>
          <a:bodyPr wrap="square" anchor="t" lIns="45720" rIns="45720">
            <a:spAutoFit/>
          </a:bodyPr>
          <a:lstStyle/>
          <a:p>
            <a:pPr algn="l">
              <a:lnSpc>
                <a:spcPct val="110000"/>
              </a:lnSpc>
              <a:spcAft>
                <a:spcPts val="800"/>
              </a:spcAft>
            </a:pPr>
            <a:r>
              <a:rPr sz="1500" b="1" i="0">
                <a:solidFill>
                  <a:srgbClr val="1F2433"/>
                </a:solidFill>
                <a:latin typeface="Consolas"/>
                <a:cs typeface="Nirmala UI"/>
                <a:ea typeface="Nirmala UI"/>
              </a:rPr>
              <a:t>score(x, y) = Σ emission(i, yᵢ) + Σ transition(yᵢ₋₁, yᵢ)</a:t>
            </a:r>
          </a:p>
          <a:p>
            <a:pPr algn="l">
              <a:lnSpc>
                <a:spcPct val="110000"/>
              </a:lnSpc>
              <a:spcAft>
                <a:spcPts val="600"/>
              </a:spcAft>
            </a:pPr>
            <a:r>
              <a:rPr sz="1400" b="1" i="0">
                <a:solidFill>
                  <a:srgbClr val="3F51B5"/>
                </a:solidFill>
                <a:latin typeface="Segoe UI"/>
                <a:cs typeface="Nirmala UI"/>
                <a:ea typeface="Nirmala UI"/>
              </a:rPr>
              <a:t>Emissions </a:t>
            </a:r>
            <a:r>
              <a:rPr sz="1400" b="0" i="0">
                <a:solidFill>
                  <a:srgbClr val="1F2433"/>
                </a:solidFill>
                <a:latin typeface="Segoe UI"/>
                <a:cs typeface="Nirmala UI"/>
                <a:ea typeface="Nirmala UI"/>
              </a:rPr>
              <a:t>come from BERT + linear layer; </a:t>
            </a:r>
            <a:r>
              <a:rPr sz="1400" b="1" i="0">
                <a:solidFill>
                  <a:srgbClr val="3F51B5"/>
                </a:solidFill>
                <a:latin typeface="Segoe UI"/>
                <a:cs typeface="Nirmala UI"/>
                <a:ea typeface="Nirmala UI"/>
              </a:rPr>
              <a:t>transitions </a:t>
            </a:r>
            <a:r>
              <a:rPr sz="1400" b="0" i="0">
                <a:solidFill>
                  <a:srgbClr val="1F2433"/>
                </a:solidFill>
                <a:latin typeface="Segoe UI"/>
                <a:cs typeface="Nirmala UI"/>
                <a:ea typeface="Nirmala UI"/>
              </a:rPr>
              <a:t>are a learned 7×7 matrix.</a:t>
            </a:r>
          </a:p>
          <a:p>
            <a:pPr algn="l">
              <a:lnSpc>
                <a:spcPct val="110000"/>
              </a:lnSpc>
              <a:spcAft>
                <a:spcPts val="600"/>
              </a:spcAft>
            </a:pPr>
            <a:r>
              <a:rPr sz="1400" b="1" i="0">
                <a:solidFill>
                  <a:srgbClr val="3F51B5"/>
                </a:solidFill>
                <a:latin typeface="Segoe UI"/>
                <a:cs typeface="Nirmala UI"/>
                <a:ea typeface="Nirmala UI"/>
              </a:rPr>
              <a:t>Training: </a:t>
            </a:r>
            <a:r>
              <a:rPr sz="1400" b="0" i="0">
                <a:solidFill>
                  <a:srgbClr val="1F2433"/>
                </a:solidFill>
                <a:latin typeface="Segoe UI"/>
                <a:cs typeface="Nirmala UI"/>
                <a:ea typeface="Nirmala UI"/>
              </a:rPr>
              <a:t>maximise log p(gold path) using the forward algorithm.</a:t>
            </a:r>
          </a:p>
          <a:p>
            <a:pPr algn="l">
              <a:lnSpc>
                <a:spcPct val="110000"/>
              </a:lnSpc>
              <a:spcAft>
                <a:spcPts val="600"/>
              </a:spcAft>
            </a:pPr>
            <a:r>
              <a:rPr sz="1400" b="1" i="0">
                <a:solidFill>
                  <a:srgbClr val="3F51B5"/>
                </a:solidFill>
                <a:latin typeface="Segoe UI"/>
                <a:cs typeface="Nirmala UI"/>
                <a:ea typeface="Nirmala UI"/>
              </a:rPr>
              <a:t>Prediction: </a:t>
            </a:r>
            <a:r>
              <a:rPr sz="1400" b="0" i="0">
                <a:solidFill>
                  <a:srgbClr val="1F2433"/>
                </a:solidFill>
                <a:latin typeface="Segoe UI"/>
                <a:cs typeface="Nirmala UI"/>
                <a:ea typeface="Nirmala UI"/>
              </a:rPr>
              <a:t>Viterbi dynamic programming, O(n·K²) instead of Kⁿ paths.</a:t>
            </a:r>
          </a:p>
          <a:p>
            <a:pPr algn="l">
              <a:lnSpc>
                <a:spcPct val="110000"/>
              </a:lnSpc>
            </a:pPr>
            <a:r>
              <a:rPr sz="1400" b="0" i="0">
                <a:solidFill>
                  <a:srgbClr val="1F2433"/>
                </a:solidFill>
                <a:latin typeface="Segoe UI"/>
                <a:cs typeface="Nirmala UI"/>
                <a:ea typeface="Nirmala UI"/>
              </a:rPr>
              <a:t>Transitions never seen in training (O → I-ORG) get large negative scores.</a:t>
            </a:r>
          </a:p>
        </p:txBody>
      </p:sp>
      <p:sp>
        <p:nvSpPr>
          <p:cNvPr id="34" name="Rounded Rectangle 33"/>
          <p:cNvSpPr/>
          <p:nvPr/>
        </p:nvSpPr>
        <p:spPr>
          <a:xfrm>
            <a:off x="7406640" y="3520440"/>
            <a:ext cx="4279392" cy="274320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35240" y="3657600"/>
            <a:ext cx="3822191"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Cost</a:t>
            </a:r>
          </a:p>
        </p:txBody>
      </p:sp>
      <p:sp>
        <p:nvSpPr>
          <p:cNvPr id="36" name="TextBox 35"/>
          <p:cNvSpPr txBox="1"/>
          <p:nvPr/>
        </p:nvSpPr>
        <p:spPr>
          <a:xfrm>
            <a:off x="7635240" y="4023360"/>
            <a:ext cx="3840480" cy="2194560"/>
          </a:xfrm>
          <a:prstGeom prst="rect">
            <a:avLst/>
          </a:prstGeom>
          <a:noFill/>
        </p:spPr>
        <p:txBody>
          <a:bodyPr wrap="square" anchor="t" lIns="45720" rIns="45720">
            <a:spAutoFit/>
          </a:bodyPr>
          <a:lstStyle/>
          <a:p>
            <a:pPr algn="l">
              <a:lnSpc>
                <a:spcPct val="110000"/>
              </a:lnSpc>
              <a:spcAft>
                <a:spcPts val="0"/>
              </a:spcAft>
            </a:pPr>
            <a:r>
              <a:rPr sz="3000" b="1" i="0">
                <a:solidFill>
                  <a:srgbClr val="3F51B5"/>
                </a:solidFill>
                <a:latin typeface="Segoe UI"/>
                <a:cs typeface="Nirmala UI"/>
                <a:ea typeface="Nirmala UI"/>
              </a:rPr>
              <a:t>+63</a:t>
            </a:r>
          </a:p>
          <a:p>
            <a:pPr algn="l">
              <a:lnSpc>
                <a:spcPct val="110000"/>
              </a:lnSpc>
              <a:spcAft>
                <a:spcPts val="1000"/>
              </a:spcAft>
            </a:pPr>
            <a:r>
              <a:rPr sz="1300" b="0" i="0">
                <a:solidFill>
                  <a:srgbClr val="636A80"/>
                </a:solidFill>
                <a:latin typeface="Segoe UI"/>
                <a:cs typeface="Nirmala UI"/>
                <a:ea typeface="Nirmala UI"/>
              </a:rPr>
              <a:t>parameters (7×7 transitions + start + end)</a:t>
            </a:r>
          </a:p>
          <a:p>
            <a:pPr algn="l">
              <a:lnSpc>
                <a:spcPct val="110000"/>
              </a:lnSpc>
              <a:spcAft>
                <a:spcPts val="0"/>
              </a:spcAft>
            </a:pPr>
            <a:r>
              <a:rPr sz="3000" b="1" i="0">
                <a:solidFill>
                  <a:srgbClr val="3F51B5"/>
                </a:solidFill>
                <a:latin typeface="Segoe UI"/>
                <a:cs typeface="Nirmala UI"/>
                <a:ea typeface="Nirmala UI"/>
              </a:rPr>
              <a:t>~7–20%</a:t>
            </a:r>
          </a:p>
          <a:p>
            <a:pPr algn="l">
              <a:lnSpc>
                <a:spcPct val="110000"/>
              </a:lnSpc>
            </a:pPr>
            <a:r>
              <a:rPr sz="1300" b="0" i="0">
                <a:solidFill>
                  <a:srgbClr val="636A80"/>
                </a:solidFill>
                <a:latin typeface="Segoe UI"/>
                <a:cs typeface="Nirmala UI"/>
                <a:ea typeface="Nirmala UI"/>
              </a:rPr>
              <a:t>slower inference (6.2 s vs 5.8 s for the full test set on GPU)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EXPERIMENT</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Training setup (identical for both heads)</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09</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9</a:t>
            </a:r>
          </a:p>
        </p:txBody>
      </p:sp>
      <p:graphicFrame>
        <p:nvGraphicFramePr>
          <p:cNvPr id="9" name="Table 8"/>
          <p:cNvGraphicFramePr>
            <a:graphicFrameLocks noGrp="1"/>
          </p:cNvGraphicFramePr>
          <p:nvPr/>
        </p:nvGraphicFramePr>
        <p:xfrm>
          <a:off x="502920" y="1371600"/>
          <a:ext cx="5029199" cy="4206240"/>
        </p:xfrm>
        <a:graphic>
          <a:graphicData uri="http://schemas.openxmlformats.org/drawingml/2006/table">
            <a:tbl>
              <a:tblPr firstRow="0" bandRow="0">
                <a:tableStyleId>{5940675A-B579-460E-94D1-54222C63F5DA}</a:tableStyleId>
              </a:tblPr>
              <a:tblGrid>
                <a:gridCol w="2140085"/>
                <a:gridCol w="2889114"/>
              </a:tblGrid>
              <a:tr h="420624">
                <a:tc>
                  <a:txBody>
                    <a:bodyPr wrap="square"/>
                    <a:lstStyle/>
                    <a:p>
                      <a:pPr algn="l">
                        <a:lnSpc>
                          <a:spcPct val="110000"/>
                        </a:lnSpc>
                      </a:pPr>
                      <a:r>
                        <a:rPr sz="1300" b="1" i="0">
                          <a:solidFill>
                            <a:srgbClr val="FFFFFF"/>
                          </a:solidFill>
                          <a:latin typeface="Segoe UI"/>
                          <a:cs typeface="Nirmala UI"/>
                          <a:ea typeface="Nirmala UI"/>
                        </a:rPr>
                        <a:t>Setting</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Value</a:t>
                      </a:r>
                    </a:p>
                  </a:txBody>
                  <a:tcPr marL="73152" marR="73152" marT="27432" marB="27432" anchor="ctr">
                    <a:solidFill>
                      <a:srgbClr val="3F51B5"/>
                    </a:solidFill>
                  </a:tcPr>
                </a:tc>
              </a:tr>
              <a:tr h="420624">
                <a:tc>
                  <a:txBody>
                    <a:bodyPr wrap="square"/>
                    <a:lstStyle/>
                    <a:p>
                      <a:pPr algn="l">
                        <a:lnSpc>
                          <a:spcPct val="110000"/>
                        </a:lnSpc>
                      </a:pPr>
                      <a:r>
                        <a:rPr sz="1300" b="0" i="0">
                          <a:solidFill>
                            <a:srgbClr val="1F2433"/>
                          </a:solidFill>
                          <a:latin typeface="Segoe UI"/>
                          <a:cs typeface="Nirmala UI"/>
                          <a:ea typeface="Nirmala UI"/>
                        </a:rPr>
                        <a:t>Optimizer</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AdamW, weight decay 0.01</a:t>
                      </a:r>
                    </a:p>
                  </a:txBody>
                  <a:tcPr marL="73152" marR="73152" marT="27432" marB="27432" anchor="ctr">
                    <a:solidFill>
                      <a:srgbClr val="FFFFFF"/>
                    </a:solidFill>
                  </a:tcPr>
                </a:tc>
              </a:tr>
              <a:tr h="420624">
                <a:tc>
                  <a:txBody>
                    <a:bodyPr wrap="square"/>
                    <a:lstStyle/>
                    <a:p>
                      <a:pPr algn="l">
                        <a:lnSpc>
                          <a:spcPct val="110000"/>
                        </a:lnSpc>
                      </a:pPr>
                      <a:r>
                        <a:rPr sz="1300" b="0" i="0">
                          <a:solidFill>
                            <a:srgbClr val="1F2433"/>
                          </a:solidFill>
                          <a:latin typeface="Segoe UI"/>
                          <a:cs typeface="Nirmala UI"/>
                          <a:ea typeface="Nirmala UI"/>
                        </a:rPr>
                        <a:t>Learning rate</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3e-5</a:t>
                      </a:r>
                    </a:p>
                  </a:txBody>
                  <a:tcPr marL="73152" marR="73152" marT="27432" marB="27432" anchor="ctr">
                    <a:solidFill>
                      <a:srgbClr val="F4F5FB"/>
                    </a:solidFill>
                  </a:tcPr>
                </a:tc>
              </a:tr>
              <a:tr h="420624">
                <a:tc>
                  <a:txBody>
                    <a:bodyPr wrap="square"/>
                    <a:lstStyle/>
                    <a:p>
                      <a:pPr algn="l">
                        <a:lnSpc>
                          <a:spcPct val="110000"/>
                        </a:lnSpc>
                      </a:pPr>
                      <a:r>
                        <a:rPr sz="1300" b="0" i="0">
                          <a:solidFill>
                            <a:srgbClr val="1F2433"/>
                          </a:solidFill>
                          <a:latin typeface="Segoe UI"/>
                          <a:cs typeface="Nirmala UI"/>
                          <a:ea typeface="Nirmala UI"/>
                        </a:rPr>
                        <a:t>Schedule</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10% warm-up + cosine decay</a:t>
                      </a:r>
                    </a:p>
                  </a:txBody>
                  <a:tcPr marL="73152" marR="73152" marT="27432" marB="27432" anchor="ctr">
                    <a:solidFill>
                      <a:srgbClr val="FFFFFF"/>
                    </a:solidFill>
                  </a:tcPr>
                </a:tc>
              </a:tr>
              <a:tr h="420624">
                <a:tc>
                  <a:txBody>
                    <a:bodyPr wrap="square"/>
                    <a:lstStyle/>
                    <a:p>
                      <a:pPr algn="l">
                        <a:lnSpc>
                          <a:spcPct val="110000"/>
                        </a:lnSpc>
                      </a:pPr>
                      <a:r>
                        <a:rPr sz="1300" b="0" i="0">
                          <a:solidFill>
                            <a:srgbClr val="1F2433"/>
                          </a:solidFill>
                          <a:latin typeface="Segoe UI"/>
                          <a:cs typeface="Nirmala UI"/>
                          <a:ea typeface="Nirmala UI"/>
                        </a:rPr>
                        <a:t>Batch / epochs</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32 / 3</a:t>
                      </a:r>
                    </a:p>
                  </a:txBody>
                  <a:tcPr marL="73152" marR="73152" marT="27432" marB="27432" anchor="ctr">
                    <a:solidFill>
                      <a:srgbClr val="F4F5FB"/>
                    </a:solidFill>
                  </a:tcPr>
                </a:tc>
              </a:tr>
              <a:tr h="420624">
                <a:tc>
                  <a:txBody>
                    <a:bodyPr wrap="square"/>
                    <a:lstStyle/>
                    <a:p>
                      <a:pPr algn="l">
                        <a:lnSpc>
                          <a:spcPct val="110000"/>
                        </a:lnSpc>
                      </a:pPr>
                      <a:r>
                        <a:rPr sz="1300" b="0" i="0">
                          <a:solidFill>
                            <a:srgbClr val="1F2433"/>
                          </a:solidFill>
                          <a:latin typeface="Segoe UI"/>
                          <a:cs typeface="Nirmala UI"/>
                          <a:ea typeface="Nirmala UI"/>
                        </a:rPr>
                        <a:t>Max length</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128 subwords</a:t>
                      </a:r>
                    </a:p>
                  </a:txBody>
                  <a:tcPr marL="73152" marR="73152" marT="27432" marB="27432" anchor="ctr">
                    <a:solidFill>
                      <a:srgbClr val="FFFFFF"/>
                    </a:solidFill>
                  </a:tcPr>
                </a:tc>
              </a:tr>
              <a:tr h="420624">
                <a:tc>
                  <a:txBody>
                    <a:bodyPr wrap="square"/>
                    <a:lstStyle/>
                    <a:p>
                      <a:pPr algn="l">
                        <a:lnSpc>
                          <a:spcPct val="110000"/>
                        </a:lnSpc>
                      </a:pPr>
                      <a:r>
                        <a:rPr sz="1300" b="0" i="0">
                          <a:solidFill>
                            <a:srgbClr val="1F2433"/>
                          </a:solidFill>
                          <a:latin typeface="Segoe UI"/>
                          <a:cs typeface="Nirmala UI"/>
                          <a:ea typeface="Nirmala UI"/>
                        </a:rPr>
                        <a:t>Precision</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FP16 mixed (GradScaler)</a:t>
                      </a:r>
                    </a:p>
                  </a:txBody>
                  <a:tcPr marL="73152" marR="73152" marT="27432" marB="27432" anchor="ctr">
                    <a:solidFill>
                      <a:srgbClr val="F4F5FB"/>
                    </a:solidFill>
                  </a:tcPr>
                </a:tc>
              </a:tr>
              <a:tr h="420624">
                <a:tc>
                  <a:txBody>
                    <a:bodyPr wrap="square"/>
                    <a:lstStyle/>
                    <a:p>
                      <a:pPr algn="l">
                        <a:lnSpc>
                          <a:spcPct val="110000"/>
                        </a:lnSpc>
                      </a:pPr>
                      <a:r>
                        <a:rPr sz="1300" b="0" i="0">
                          <a:solidFill>
                            <a:srgbClr val="1F2433"/>
                          </a:solidFill>
                          <a:latin typeface="Segoe UI"/>
                          <a:cs typeface="Nirmala UI"/>
                          <a:ea typeface="Nirmala UI"/>
                        </a:rPr>
                        <a:t>Training data</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50,000 sentences</a:t>
                      </a:r>
                    </a:p>
                  </a:txBody>
                  <a:tcPr marL="73152" marR="73152" marT="27432" marB="27432" anchor="ctr">
                    <a:solidFill>
                      <a:srgbClr val="FFFFFF"/>
                    </a:solidFill>
                  </a:tcPr>
                </a:tc>
              </a:tr>
              <a:tr h="420624">
                <a:tc>
                  <a:txBody>
                    <a:bodyPr wrap="square"/>
                    <a:lstStyle/>
                    <a:p>
                      <a:pPr algn="l">
                        <a:lnSpc>
                          <a:spcPct val="110000"/>
                        </a:lnSpc>
                      </a:pPr>
                      <a:r>
                        <a:rPr sz="1300" b="0" i="0">
                          <a:solidFill>
                            <a:srgbClr val="1F2433"/>
                          </a:solidFill>
                          <a:latin typeface="Segoe UI"/>
                          <a:cs typeface="Nirmala UI"/>
                          <a:ea typeface="Nirmala UI"/>
                        </a:rPr>
                        <a:t>Model selection</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best validation entity F1</a:t>
                      </a:r>
                    </a:p>
                  </a:txBody>
                  <a:tcPr marL="73152" marR="73152" marT="27432" marB="27432" anchor="ctr">
                    <a:solidFill>
                      <a:srgbClr val="F4F5FB"/>
                    </a:solidFill>
                  </a:tcPr>
                </a:tc>
              </a:tr>
              <a:tr h="420624">
                <a:tc>
                  <a:txBody>
                    <a:bodyPr wrap="square"/>
                    <a:lstStyle/>
                    <a:p>
                      <a:pPr algn="l">
                        <a:lnSpc>
                          <a:spcPct val="110000"/>
                        </a:lnSpc>
                      </a:pPr>
                      <a:r>
                        <a:rPr sz="1300" b="0" i="0">
                          <a:solidFill>
                            <a:srgbClr val="1F2433"/>
                          </a:solidFill>
                          <a:latin typeface="Segoe UI"/>
                          <a:cs typeface="Nirmala UI"/>
                          <a:ea typeface="Nirmala UI"/>
                        </a:rPr>
                        <a:t>Hardware</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RTX 3050 6 GB laptop GPU</a:t>
                      </a:r>
                    </a:p>
                  </a:txBody>
                  <a:tcPr marL="73152" marR="73152" marT="27432" marB="27432" anchor="ctr">
                    <a:solidFill>
                      <a:srgbClr val="FFFFFF"/>
                    </a:solidFill>
                  </a:tcPr>
                </a:tc>
              </a:tr>
            </a:tbl>
          </a:graphicData>
        </a:graphic>
      </p:graphicFrame>
      <p:sp>
        <p:nvSpPr>
          <p:cNvPr id="10" name="Rectangle 9"/>
          <p:cNvSpPr/>
          <p:nvPr/>
        </p:nvSpPr>
        <p:spPr>
          <a:xfrm>
            <a:off x="5751576" y="1483667"/>
            <a:ext cx="5961888" cy="1878985"/>
          </a:xfrm>
          <a:prstGeom prst="rect">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nb_loss.png"/>
          <p:cNvPicPr>
            <a:picLocks noChangeAspect="1"/>
          </p:cNvPicPr>
          <p:nvPr/>
        </p:nvPicPr>
        <p:blipFill>
          <a:blip r:embed="rId2"/>
          <a:stretch>
            <a:fillRect/>
          </a:stretch>
        </p:blipFill>
        <p:spPr>
          <a:xfrm>
            <a:off x="5806440" y="1538531"/>
            <a:ext cx="5852160" cy="1769257"/>
          </a:xfrm>
          <a:prstGeom prst="rect">
            <a:avLst/>
          </a:prstGeom>
        </p:spPr>
      </p:pic>
      <p:sp>
        <p:nvSpPr>
          <p:cNvPr id="12" name="TextBox 11"/>
          <p:cNvSpPr txBox="1"/>
          <p:nvPr/>
        </p:nvSpPr>
        <p:spPr>
          <a:xfrm>
            <a:off x="5806440" y="3566160"/>
            <a:ext cx="5852160" cy="457200"/>
          </a:xfrm>
          <a:prstGeom prst="rect">
            <a:avLst/>
          </a:prstGeom>
          <a:noFill/>
        </p:spPr>
        <p:txBody>
          <a:bodyPr wrap="square" anchor="t" lIns="45720" rIns="45720">
            <a:spAutoFit/>
          </a:bodyPr>
          <a:lstStyle/>
          <a:p>
            <a:pPr algn="l">
              <a:lnSpc>
                <a:spcPct val="110000"/>
              </a:lnSpc>
            </a:pPr>
            <a:r>
              <a:rPr sz="1100" b="0" i="1">
                <a:solidFill>
                  <a:srgbClr val="636A80"/>
                </a:solidFill>
                <a:latin typeface="Segoe UI"/>
                <a:cs typeface="Nirmala UI"/>
                <a:ea typeface="Nirmala UI"/>
              </a:rPr>
              <a:t>Training loss in the demo run of notebook 02 (8k sentences, 1 epoch). Left: weighted cross-entropy. Right: CRF negative log-likelihood (per sentence, so larger values).</a:t>
            </a:r>
          </a:p>
        </p:txBody>
      </p:sp>
      <p:graphicFrame>
        <p:nvGraphicFramePr>
          <p:cNvPr id="13" name="Table 12"/>
          <p:cNvGraphicFramePr>
            <a:graphicFrameLocks noGrp="1"/>
          </p:cNvGraphicFramePr>
          <p:nvPr/>
        </p:nvGraphicFramePr>
        <p:xfrm>
          <a:off x="5806440" y="4251960"/>
          <a:ext cx="5879591" cy="1152144"/>
        </p:xfrm>
        <a:graphic>
          <a:graphicData uri="http://schemas.openxmlformats.org/drawingml/2006/table">
            <a:tbl>
              <a:tblPr firstRow="0" bandRow="0">
                <a:tableStyleId>{5940675A-B579-460E-94D1-54222C63F5DA}</a:tableStyleId>
              </a:tblPr>
              <a:tblGrid>
                <a:gridCol w="2045075"/>
                <a:gridCol w="1278172"/>
                <a:gridCol w="1278172"/>
                <a:gridCol w="1278172"/>
              </a:tblGrid>
              <a:tr h="384048">
                <a:tc>
                  <a:txBody>
                    <a:bodyPr wrap="square"/>
                    <a:lstStyle/>
                    <a:p>
                      <a:pPr algn="l">
                        <a:lnSpc>
                          <a:spcPct val="110000"/>
                        </a:lnSpc>
                      </a:pPr>
                      <a:r>
                        <a:rPr sz="1300" b="1" i="0">
                          <a:solidFill>
                            <a:srgbClr val="FFFFFF"/>
                          </a:solidFill>
                          <a:latin typeface="Segoe UI"/>
                          <a:cs typeface="Nirmala UI"/>
                          <a:ea typeface="Nirmala UI"/>
                        </a:rPr>
                        <a:t>Demo run (1 epoch)</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Val P</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Val R</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Val F1</a:t>
                      </a:r>
                    </a:p>
                  </a:txBody>
                  <a:tcPr marL="73152" marR="73152" marT="27432" marB="27432" anchor="ctr">
                    <a:solidFill>
                      <a:srgbClr val="3F51B5"/>
                    </a:solidFill>
                  </a:tcPr>
                </a:tc>
              </a:tr>
              <a:tr h="384048">
                <a:tc>
                  <a:txBody>
                    <a:bodyPr wrap="square"/>
                    <a:lstStyle/>
                    <a:p>
                      <a:pPr algn="l">
                        <a:lnSpc>
                          <a:spcPct val="110000"/>
                        </a:lnSpc>
                      </a:pPr>
                      <a:r>
                        <a:rPr sz="1300" b="0" i="0">
                          <a:solidFill>
                            <a:srgbClr val="1F2433"/>
                          </a:solidFill>
                          <a:latin typeface="Segoe UI"/>
                          <a:cs typeface="Nirmala UI"/>
                          <a:ea typeface="Nirmala UI"/>
                        </a:rPr>
                        <a:t>Softmax head</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0.464</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0.686</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0.553</a:t>
                      </a:r>
                    </a:p>
                  </a:txBody>
                  <a:tcPr marL="73152" marR="73152" marT="27432" marB="27432" anchor="ctr">
                    <a:solidFill>
                      <a:srgbClr val="FFFFFF"/>
                    </a:solidFill>
                  </a:tcPr>
                </a:tc>
              </a:tr>
              <a:tr h="384048">
                <a:tc>
                  <a:txBody>
                    <a:bodyPr wrap="square"/>
                    <a:lstStyle/>
                    <a:p>
                      <a:pPr algn="l">
                        <a:lnSpc>
                          <a:spcPct val="110000"/>
                        </a:lnSpc>
                      </a:pPr>
                      <a:r>
                        <a:rPr sz="1300" b="0" i="0">
                          <a:solidFill>
                            <a:srgbClr val="1F2433"/>
                          </a:solidFill>
                          <a:latin typeface="Segoe UI"/>
                          <a:cs typeface="Nirmala UI"/>
                          <a:ea typeface="Nirmala UI"/>
                        </a:rPr>
                        <a:t>CRF head</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0.671</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0.653</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0.662</a:t>
                      </a:r>
                    </a:p>
                  </a:txBody>
                  <a:tcPr marL="73152" marR="73152" marT="27432" marB="27432" anchor="ctr">
                    <a:solidFill>
                      <a:srgbClr val="F4F5FB"/>
                    </a:solidFill>
                  </a:tcPr>
                </a:tc>
              </a:tr>
            </a:tbl>
          </a:graphicData>
        </a:graphic>
      </p:graphicFrame>
      <p:sp>
        <p:nvSpPr>
          <p:cNvPr id="14" name="TextBox 13"/>
          <p:cNvSpPr txBox="1"/>
          <p:nvPr/>
        </p:nvSpPr>
        <p:spPr>
          <a:xfrm>
            <a:off x="5806440" y="5486400"/>
            <a:ext cx="5879592" cy="731520"/>
          </a:xfrm>
          <a:prstGeom prst="rect">
            <a:avLst/>
          </a:prstGeom>
          <a:noFill/>
        </p:spPr>
        <p:txBody>
          <a:bodyPr wrap="square" anchor="t" lIns="45720" rIns="45720">
            <a:spAutoFit/>
          </a:bodyPr>
          <a:lstStyle/>
          <a:p>
            <a:pPr algn="l">
              <a:lnSpc>
                <a:spcPct val="110000"/>
              </a:lnSpc>
            </a:pPr>
            <a:r>
              <a:rPr sz="1300" b="0" i="0">
                <a:solidFill>
                  <a:srgbClr val="1F2433"/>
                </a:solidFill>
                <a:latin typeface="Segoe UI"/>
                <a:cs typeface="Nirmala UI"/>
                <a:ea typeface="Nirmala UI"/>
              </a:rPr>
              <a:t>Same pattern as the final results appears early: softmax has high recall but low precision; the CRF is balanced.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RESULTS</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Results on the human-annotated test set</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10</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10</a:t>
            </a:r>
          </a:p>
        </p:txBody>
      </p:sp>
      <p:sp>
        <p:nvSpPr>
          <p:cNvPr id="9" name="Rounded Rectangle 8"/>
          <p:cNvSpPr/>
          <p:nvPr/>
        </p:nvSpPr>
        <p:spPr>
          <a:xfrm>
            <a:off x="502920" y="1325880"/>
            <a:ext cx="2651760" cy="123444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71600"/>
            <a:ext cx="2377440" cy="685800"/>
          </a:xfrm>
          <a:prstGeom prst="rect">
            <a:avLst/>
          </a:prstGeom>
          <a:noFill/>
        </p:spPr>
        <p:txBody>
          <a:bodyPr wrap="square" anchor="t" lIns="45720" rIns="45720">
            <a:spAutoFit/>
          </a:bodyPr>
          <a:lstStyle/>
          <a:p>
            <a:pPr algn="l">
              <a:lnSpc>
                <a:spcPct val="110000"/>
              </a:lnSpc>
            </a:pPr>
            <a:r>
              <a:rPr sz="3200" b="1" i="0">
                <a:solidFill>
                  <a:srgbClr val="3F51B5"/>
                </a:solidFill>
                <a:latin typeface="Segoe UI"/>
                <a:cs typeface="Nirmala UI"/>
                <a:ea typeface="Nirmala UI"/>
              </a:rPr>
              <a:t>84.25</a:t>
            </a:r>
          </a:p>
        </p:txBody>
      </p:sp>
      <p:sp>
        <p:nvSpPr>
          <p:cNvPr id="11" name="TextBox 10"/>
          <p:cNvSpPr txBox="1"/>
          <p:nvPr/>
        </p:nvSpPr>
        <p:spPr>
          <a:xfrm>
            <a:off x="685800" y="2057400"/>
            <a:ext cx="2377440" cy="411480"/>
          </a:xfrm>
          <a:prstGeom prst="rect">
            <a:avLst/>
          </a:prstGeom>
          <a:noFill/>
        </p:spPr>
        <p:txBody>
          <a:bodyPr wrap="square" anchor="t" lIns="45720" rIns="45720">
            <a:spAutoFit/>
          </a:bodyPr>
          <a:lstStyle/>
          <a:p>
            <a:pPr algn="l">
              <a:lnSpc>
                <a:spcPct val="110000"/>
              </a:lnSpc>
            </a:pPr>
            <a:r>
              <a:rPr sz="1300" b="0" i="0">
                <a:solidFill>
                  <a:srgbClr val="636A80"/>
                </a:solidFill>
                <a:latin typeface="Segoe UI"/>
                <a:cs typeface="Nirmala UI"/>
                <a:ea typeface="Nirmala UI"/>
              </a:rPr>
              <a:t>strict entity F1 (CRF)</a:t>
            </a:r>
          </a:p>
        </p:txBody>
      </p:sp>
      <p:sp>
        <p:nvSpPr>
          <p:cNvPr id="12" name="Rounded Rectangle 11"/>
          <p:cNvSpPr/>
          <p:nvPr/>
        </p:nvSpPr>
        <p:spPr>
          <a:xfrm>
            <a:off x="3319272" y="1325880"/>
            <a:ext cx="2651760" cy="123444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1371600"/>
            <a:ext cx="2377440" cy="685800"/>
          </a:xfrm>
          <a:prstGeom prst="rect">
            <a:avLst/>
          </a:prstGeom>
          <a:noFill/>
        </p:spPr>
        <p:txBody>
          <a:bodyPr wrap="square" anchor="t" lIns="45720" rIns="45720">
            <a:spAutoFit/>
          </a:bodyPr>
          <a:lstStyle/>
          <a:p>
            <a:pPr algn="l">
              <a:lnSpc>
                <a:spcPct val="110000"/>
              </a:lnSpc>
            </a:pPr>
            <a:r>
              <a:rPr sz="3200" b="1" i="0">
                <a:solidFill>
                  <a:srgbClr val="3F51B5"/>
                </a:solidFill>
                <a:latin typeface="Segoe UI"/>
                <a:cs typeface="Nirmala UI"/>
                <a:ea typeface="Nirmala UI"/>
              </a:rPr>
              <a:t>+12.0</a:t>
            </a:r>
          </a:p>
        </p:txBody>
      </p:sp>
      <p:sp>
        <p:nvSpPr>
          <p:cNvPr id="14" name="TextBox 13"/>
          <p:cNvSpPr txBox="1"/>
          <p:nvPr/>
        </p:nvSpPr>
        <p:spPr>
          <a:xfrm>
            <a:off x="3502152" y="2057400"/>
            <a:ext cx="2377440" cy="411480"/>
          </a:xfrm>
          <a:prstGeom prst="rect">
            <a:avLst/>
          </a:prstGeom>
          <a:noFill/>
        </p:spPr>
        <p:txBody>
          <a:bodyPr wrap="square" anchor="t" lIns="45720" rIns="45720">
            <a:spAutoFit/>
          </a:bodyPr>
          <a:lstStyle/>
          <a:p>
            <a:pPr algn="l">
              <a:lnSpc>
                <a:spcPct val="110000"/>
              </a:lnSpc>
            </a:pPr>
            <a:r>
              <a:rPr sz="1300" b="0" i="0">
                <a:solidFill>
                  <a:srgbClr val="636A80"/>
                </a:solidFill>
                <a:latin typeface="Segoe UI"/>
                <a:cs typeface="Nirmala UI"/>
                <a:ea typeface="Nirmala UI"/>
              </a:rPr>
              <a:t>F1 over softmax baseline</a:t>
            </a:r>
          </a:p>
        </p:txBody>
      </p:sp>
      <p:sp>
        <p:nvSpPr>
          <p:cNvPr id="15" name="Rounded Rectangle 14"/>
          <p:cNvSpPr/>
          <p:nvPr/>
        </p:nvSpPr>
        <p:spPr>
          <a:xfrm>
            <a:off x="6135624" y="1325880"/>
            <a:ext cx="2651760" cy="123444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1371600"/>
            <a:ext cx="2377440" cy="685800"/>
          </a:xfrm>
          <a:prstGeom prst="rect">
            <a:avLst/>
          </a:prstGeom>
          <a:noFill/>
        </p:spPr>
        <p:txBody>
          <a:bodyPr wrap="square" anchor="t" lIns="45720" rIns="45720">
            <a:spAutoFit/>
          </a:bodyPr>
          <a:lstStyle/>
          <a:p>
            <a:pPr algn="l">
              <a:lnSpc>
                <a:spcPct val="110000"/>
              </a:lnSpc>
            </a:pPr>
            <a:r>
              <a:rPr sz="3200" b="1" i="0">
                <a:solidFill>
                  <a:srgbClr val="3F51B5"/>
                </a:solidFill>
                <a:latin typeface="Segoe UI"/>
                <a:cs typeface="Nirmala UI"/>
                <a:ea typeface="Nirmala UI"/>
              </a:rPr>
              <a:t>94.08%</a:t>
            </a:r>
          </a:p>
        </p:txBody>
      </p:sp>
      <p:sp>
        <p:nvSpPr>
          <p:cNvPr id="17" name="TextBox 16"/>
          <p:cNvSpPr txBox="1"/>
          <p:nvPr/>
        </p:nvSpPr>
        <p:spPr>
          <a:xfrm>
            <a:off x="6318504" y="2057400"/>
            <a:ext cx="2377440" cy="411480"/>
          </a:xfrm>
          <a:prstGeom prst="rect">
            <a:avLst/>
          </a:prstGeom>
          <a:noFill/>
        </p:spPr>
        <p:txBody>
          <a:bodyPr wrap="square" anchor="t" lIns="45720" rIns="45720">
            <a:spAutoFit/>
          </a:bodyPr>
          <a:lstStyle/>
          <a:p>
            <a:pPr algn="l">
              <a:lnSpc>
                <a:spcPct val="110000"/>
              </a:lnSpc>
            </a:pPr>
            <a:r>
              <a:rPr sz="1300" b="0" i="0">
                <a:solidFill>
                  <a:srgbClr val="636A80"/>
                </a:solidFill>
                <a:latin typeface="Segoe UI"/>
                <a:cs typeface="Nirmala UI"/>
                <a:ea typeface="Nirmala UI"/>
              </a:rPr>
              <a:t>token accuracy</a:t>
            </a:r>
          </a:p>
        </p:txBody>
      </p:sp>
      <p:sp>
        <p:nvSpPr>
          <p:cNvPr id="18" name="Rounded Rectangle 17"/>
          <p:cNvSpPr/>
          <p:nvPr/>
        </p:nvSpPr>
        <p:spPr>
          <a:xfrm>
            <a:off x="8951976" y="1325880"/>
            <a:ext cx="2651760" cy="123444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4856" y="1371600"/>
            <a:ext cx="2377440" cy="685800"/>
          </a:xfrm>
          <a:prstGeom prst="rect">
            <a:avLst/>
          </a:prstGeom>
          <a:noFill/>
        </p:spPr>
        <p:txBody>
          <a:bodyPr wrap="square" anchor="t" lIns="45720" rIns="45720">
            <a:spAutoFit/>
          </a:bodyPr>
          <a:lstStyle/>
          <a:p>
            <a:pPr algn="l">
              <a:lnSpc>
                <a:spcPct val="110000"/>
              </a:lnSpc>
            </a:pPr>
            <a:r>
              <a:rPr sz="3200" b="1" i="0">
                <a:solidFill>
                  <a:srgbClr val="3F51B5"/>
                </a:solidFill>
                <a:latin typeface="Segoe UI"/>
                <a:cs typeface="Nirmala UI"/>
                <a:ea typeface="Nirmala UI"/>
              </a:rPr>
              <a:t>98 → 20</a:t>
            </a:r>
          </a:p>
        </p:txBody>
      </p:sp>
      <p:sp>
        <p:nvSpPr>
          <p:cNvPr id="20" name="TextBox 19"/>
          <p:cNvSpPr txBox="1"/>
          <p:nvPr/>
        </p:nvSpPr>
        <p:spPr>
          <a:xfrm>
            <a:off x="9134856" y="2057400"/>
            <a:ext cx="2377440" cy="411480"/>
          </a:xfrm>
          <a:prstGeom prst="rect">
            <a:avLst/>
          </a:prstGeom>
          <a:noFill/>
        </p:spPr>
        <p:txBody>
          <a:bodyPr wrap="square" anchor="t" lIns="45720" rIns="45720">
            <a:spAutoFit/>
          </a:bodyPr>
          <a:lstStyle/>
          <a:p>
            <a:pPr algn="l">
              <a:lnSpc>
                <a:spcPct val="110000"/>
              </a:lnSpc>
            </a:pPr>
            <a:r>
              <a:rPr sz="1300" b="0" i="0">
                <a:solidFill>
                  <a:srgbClr val="636A80"/>
                </a:solidFill>
                <a:latin typeface="Segoe UI"/>
                <a:cs typeface="Nirmala UI"/>
                <a:ea typeface="Nirmala UI"/>
              </a:rPr>
              <a:t>invalid tag transitions</a:t>
            </a:r>
          </a:p>
        </p:txBody>
      </p:sp>
      <p:graphicFrame>
        <p:nvGraphicFramePr>
          <p:cNvPr id="21" name="Table 20"/>
          <p:cNvGraphicFramePr>
            <a:graphicFrameLocks noGrp="1"/>
          </p:cNvGraphicFramePr>
          <p:nvPr/>
        </p:nvGraphicFramePr>
        <p:xfrm>
          <a:off x="502920" y="2788920"/>
          <a:ext cx="11183110" cy="2468880"/>
        </p:xfrm>
        <a:graphic>
          <a:graphicData uri="http://schemas.openxmlformats.org/drawingml/2006/table">
            <a:tbl>
              <a:tblPr firstRow="0" bandRow="0">
                <a:tableStyleId>{5940675A-B579-460E-94D1-54222C63F5DA}</a:tableStyleId>
              </a:tblPr>
              <a:tblGrid>
                <a:gridCol w="1683479"/>
                <a:gridCol w="1202485"/>
                <a:gridCol w="1202485"/>
                <a:gridCol w="1202485"/>
                <a:gridCol w="1202485"/>
                <a:gridCol w="1202485"/>
                <a:gridCol w="1202485"/>
                <a:gridCol w="1202485"/>
                <a:gridCol w="1082236"/>
              </a:tblGrid>
              <a:tr h="411480">
                <a:tc>
                  <a:txBody>
                    <a:bodyPr wrap="square"/>
                    <a:lstStyle/>
                    <a:p>
                      <a:pPr algn="l">
                        <a:lnSpc>
                          <a:spcPct val="110000"/>
                        </a:lnSpc>
                      </a:pPr>
                      <a:r>
                        <a:rPr sz="1300" b="1" i="0">
                          <a:solidFill>
                            <a:srgbClr val="FFFFFF"/>
                          </a:solidFill>
                          <a:latin typeface="Segoe UI"/>
                          <a:cs typeface="Nirmala UI"/>
                          <a:ea typeface="Nirmala UI"/>
                        </a:rPr>
                        <a:t>Entity</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Support</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Softmax P</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Softmax R</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Softmax F1</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CRF P</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CRF R</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CRF F1</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Δ F1</a:t>
                      </a:r>
                    </a:p>
                  </a:txBody>
                  <a:tcPr marL="73152" marR="73152" marT="27432" marB="27432" anchor="ctr">
                    <a:solidFill>
                      <a:srgbClr val="3F51B5"/>
                    </a:solidFill>
                  </a:tcPr>
                </a:tc>
              </a:tr>
              <a:tr h="411480">
                <a:tc>
                  <a:txBody>
                    <a:bodyPr wrap="square"/>
                    <a:lstStyle/>
                    <a:p>
                      <a:pPr algn="l">
                        <a:lnSpc>
                          <a:spcPct val="110000"/>
                        </a:lnSpc>
                      </a:pPr>
                      <a:r>
                        <a:rPr sz="1300" b="0" i="0">
                          <a:solidFill>
                            <a:srgbClr val="1F2433"/>
                          </a:solidFill>
                          <a:latin typeface="Segoe UI"/>
                          <a:cs typeface="Nirmala UI"/>
                          <a:ea typeface="Nirmala UI"/>
                        </a:rPr>
                        <a:t>PER</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714</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78.99</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91.60</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84.82</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88.72</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92.58</a:t>
                      </a:r>
                    </a:p>
                  </a:txBody>
                  <a:tcPr marL="73152" marR="73152" marT="27432" marB="27432" anchor="ctr">
                    <a:solidFill>
                      <a:srgbClr val="FFFFFF"/>
                    </a:solidFill>
                  </a:tcPr>
                </a:tc>
                <a:tc>
                  <a:txBody>
                    <a:bodyPr wrap="square"/>
                    <a:lstStyle/>
                    <a:p>
                      <a:pPr algn="ctr">
                        <a:lnSpc>
                          <a:spcPct val="110000"/>
                        </a:lnSpc>
                      </a:pPr>
                      <a:r>
                        <a:rPr sz="1300" b="1" i="0">
                          <a:solidFill>
                            <a:srgbClr val="047857"/>
                          </a:solidFill>
                          <a:latin typeface="Segoe UI"/>
                          <a:cs typeface="Nirmala UI"/>
                          <a:ea typeface="Nirmala UI"/>
                        </a:rPr>
                        <a:t>90.61</a:t>
                      </a:r>
                    </a:p>
                  </a:txBody>
                  <a:tcPr marL="73152" marR="73152" marT="27432" marB="27432" anchor="ctr">
                    <a:solidFill>
                      <a:srgbClr val="FFFFFF"/>
                    </a:solidFill>
                  </a:tcPr>
                </a:tc>
                <a:tc>
                  <a:txBody>
                    <a:bodyPr wrap="square"/>
                    <a:lstStyle/>
                    <a:p>
                      <a:pPr algn="ctr">
                        <a:lnSpc>
                          <a:spcPct val="110000"/>
                        </a:lnSpc>
                      </a:pPr>
                      <a:r>
                        <a:rPr sz="1300" b="1" i="0">
                          <a:solidFill>
                            <a:srgbClr val="047857"/>
                          </a:solidFill>
                          <a:latin typeface="Segoe UI"/>
                          <a:cs typeface="Nirmala UI"/>
                          <a:ea typeface="Nirmala UI"/>
                        </a:rPr>
                        <a:t>+5.8</a:t>
                      </a:r>
                    </a:p>
                  </a:txBody>
                  <a:tcPr marL="73152" marR="73152" marT="27432" marB="27432" anchor="ctr">
                    <a:solidFill>
                      <a:srgbClr val="FFFFFF"/>
                    </a:solidFill>
                  </a:tcPr>
                </a:tc>
              </a:tr>
              <a:tr h="411480">
                <a:tc>
                  <a:txBody>
                    <a:bodyPr wrap="square"/>
                    <a:lstStyle/>
                    <a:p>
                      <a:pPr algn="l">
                        <a:lnSpc>
                          <a:spcPct val="110000"/>
                        </a:lnSpc>
                      </a:pPr>
                      <a:r>
                        <a:rPr sz="1300" b="0" i="0">
                          <a:solidFill>
                            <a:srgbClr val="1F2433"/>
                          </a:solidFill>
                          <a:latin typeface="Segoe UI"/>
                          <a:cs typeface="Nirmala UI"/>
                          <a:ea typeface="Nirmala UI"/>
                        </a:rPr>
                        <a:t>LOC</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482</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68.52</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79.46</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73.58</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86.60</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84.44</a:t>
                      </a:r>
                    </a:p>
                  </a:txBody>
                  <a:tcPr marL="73152" marR="73152" marT="27432" marB="27432" anchor="ctr">
                    <a:solidFill>
                      <a:srgbClr val="F4F5FB"/>
                    </a:solidFill>
                  </a:tcPr>
                </a:tc>
                <a:tc>
                  <a:txBody>
                    <a:bodyPr wrap="square"/>
                    <a:lstStyle/>
                    <a:p>
                      <a:pPr algn="ctr">
                        <a:lnSpc>
                          <a:spcPct val="110000"/>
                        </a:lnSpc>
                      </a:pPr>
                      <a:r>
                        <a:rPr sz="1300" b="1" i="0">
                          <a:solidFill>
                            <a:srgbClr val="047857"/>
                          </a:solidFill>
                          <a:latin typeface="Segoe UI"/>
                          <a:cs typeface="Nirmala UI"/>
                          <a:ea typeface="Nirmala UI"/>
                        </a:rPr>
                        <a:t>85.50</a:t>
                      </a:r>
                    </a:p>
                  </a:txBody>
                  <a:tcPr marL="73152" marR="73152" marT="27432" marB="27432" anchor="ctr">
                    <a:solidFill>
                      <a:srgbClr val="F4F5FB"/>
                    </a:solidFill>
                  </a:tcPr>
                </a:tc>
                <a:tc>
                  <a:txBody>
                    <a:bodyPr wrap="square"/>
                    <a:lstStyle/>
                    <a:p>
                      <a:pPr algn="ctr">
                        <a:lnSpc>
                          <a:spcPct val="110000"/>
                        </a:lnSpc>
                      </a:pPr>
                      <a:r>
                        <a:rPr sz="1300" b="1" i="0">
                          <a:solidFill>
                            <a:srgbClr val="047857"/>
                          </a:solidFill>
                          <a:latin typeface="Segoe UI"/>
                          <a:cs typeface="Nirmala UI"/>
                          <a:ea typeface="Nirmala UI"/>
                        </a:rPr>
                        <a:t>+11.9</a:t>
                      </a:r>
                    </a:p>
                  </a:txBody>
                  <a:tcPr marL="73152" marR="73152" marT="27432" marB="27432" anchor="ctr">
                    <a:solidFill>
                      <a:srgbClr val="F4F5FB"/>
                    </a:solidFill>
                  </a:tcPr>
                </a:tc>
              </a:tr>
              <a:tr h="411480">
                <a:tc>
                  <a:txBody>
                    <a:bodyPr wrap="square"/>
                    <a:lstStyle/>
                    <a:p>
                      <a:pPr algn="l">
                        <a:lnSpc>
                          <a:spcPct val="110000"/>
                        </a:lnSpc>
                      </a:pPr>
                      <a:r>
                        <a:rPr sz="1300" b="0" i="0">
                          <a:solidFill>
                            <a:srgbClr val="1F2433"/>
                          </a:solidFill>
                          <a:latin typeface="Segoe UI"/>
                          <a:cs typeface="Nirmala UI"/>
                          <a:ea typeface="Nirmala UI"/>
                        </a:rPr>
                        <a:t>ORG</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309</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37.63</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59.55</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46.12</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69.61</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63.75</a:t>
                      </a:r>
                    </a:p>
                  </a:txBody>
                  <a:tcPr marL="73152" marR="73152" marT="27432" marB="27432" anchor="ctr">
                    <a:solidFill>
                      <a:srgbClr val="FFFFFF"/>
                    </a:solidFill>
                  </a:tcPr>
                </a:tc>
                <a:tc>
                  <a:txBody>
                    <a:bodyPr wrap="square"/>
                    <a:lstStyle/>
                    <a:p>
                      <a:pPr algn="ctr">
                        <a:lnSpc>
                          <a:spcPct val="110000"/>
                        </a:lnSpc>
                      </a:pPr>
                      <a:r>
                        <a:rPr sz="1300" b="1" i="0">
                          <a:solidFill>
                            <a:srgbClr val="047857"/>
                          </a:solidFill>
                          <a:latin typeface="Segoe UI"/>
                          <a:cs typeface="Nirmala UI"/>
                          <a:ea typeface="Nirmala UI"/>
                        </a:rPr>
                        <a:t>66.55</a:t>
                      </a:r>
                    </a:p>
                  </a:txBody>
                  <a:tcPr marL="73152" marR="73152" marT="27432" marB="27432" anchor="ctr">
                    <a:solidFill>
                      <a:srgbClr val="FFFFFF"/>
                    </a:solidFill>
                  </a:tcPr>
                </a:tc>
                <a:tc>
                  <a:txBody>
                    <a:bodyPr wrap="square"/>
                    <a:lstStyle/>
                    <a:p>
                      <a:pPr algn="ctr">
                        <a:lnSpc>
                          <a:spcPct val="110000"/>
                        </a:lnSpc>
                      </a:pPr>
                      <a:r>
                        <a:rPr sz="1300" b="1" i="0">
                          <a:solidFill>
                            <a:srgbClr val="047857"/>
                          </a:solidFill>
                          <a:latin typeface="Segoe UI"/>
                          <a:cs typeface="Nirmala UI"/>
                          <a:ea typeface="Nirmala UI"/>
                        </a:rPr>
                        <a:t>+20.4</a:t>
                      </a:r>
                    </a:p>
                  </a:txBody>
                  <a:tcPr marL="73152" marR="73152" marT="27432" marB="27432" anchor="ctr">
                    <a:solidFill>
                      <a:srgbClr val="FFFFFF"/>
                    </a:solidFill>
                  </a:tcPr>
                </a:tc>
              </a:tr>
              <a:tr h="411480">
                <a:tc>
                  <a:txBody>
                    <a:bodyPr wrap="square"/>
                    <a:lstStyle/>
                    <a:p>
                      <a:pPr algn="l">
                        <a:lnSpc>
                          <a:spcPct val="110000"/>
                        </a:lnSpc>
                      </a:pPr>
                      <a:r>
                        <a:rPr sz="1300" b="1" i="0">
                          <a:solidFill>
                            <a:srgbClr val="1F2433"/>
                          </a:solidFill>
                          <a:latin typeface="Segoe UI"/>
                          <a:cs typeface="Nirmala UI"/>
                          <a:ea typeface="Nirmala UI"/>
                        </a:rPr>
                        <a:t>Micro avg</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1505</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65.09</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81.13</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72.23</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84.45</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84.05</a:t>
                      </a:r>
                    </a:p>
                  </a:txBody>
                  <a:tcPr marL="73152" marR="73152" marT="27432" marB="27432" anchor="ctr">
                    <a:solidFill>
                      <a:srgbClr val="F4F5FB"/>
                    </a:solidFill>
                  </a:tcPr>
                </a:tc>
                <a:tc>
                  <a:txBody>
                    <a:bodyPr wrap="square"/>
                    <a:lstStyle/>
                    <a:p>
                      <a:pPr algn="ctr">
                        <a:lnSpc>
                          <a:spcPct val="110000"/>
                        </a:lnSpc>
                      </a:pPr>
                      <a:r>
                        <a:rPr sz="1300" b="1" i="0">
                          <a:solidFill>
                            <a:srgbClr val="047857"/>
                          </a:solidFill>
                          <a:latin typeface="Segoe UI"/>
                          <a:cs typeface="Nirmala UI"/>
                          <a:ea typeface="Nirmala UI"/>
                        </a:rPr>
                        <a:t>84.25</a:t>
                      </a:r>
                    </a:p>
                  </a:txBody>
                  <a:tcPr marL="73152" marR="73152" marT="27432" marB="27432" anchor="ctr">
                    <a:solidFill>
                      <a:srgbClr val="F4F5FB"/>
                    </a:solidFill>
                  </a:tcPr>
                </a:tc>
                <a:tc>
                  <a:txBody>
                    <a:bodyPr wrap="square"/>
                    <a:lstStyle/>
                    <a:p>
                      <a:pPr algn="ctr">
                        <a:lnSpc>
                          <a:spcPct val="110000"/>
                        </a:lnSpc>
                      </a:pPr>
                      <a:r>
                        <a:rPr sz="1300" b="1" i="0">
                          <a:solidFill>
                            <a:srgbClr val="047857"/>
                          </a:solidFill>
                          <a:latin typeface="Segoe UI"/>
                          <a:cs typeface="Nirmala UI"/>
                          <a:ea typeface="Nirmala UI"/>
                        </a:rPr>
                        <a:t>+12.0</a:t>
                      </a:r>
                    </a:p>
                  </a:txBody>
                  <a:tcPr marL="73152" marR="73152" marT="27432" marB="27432" anchor="ctr">
                    <a:solidFill>
                      <a:srgbClr val="F4F5FB"/>
                    </a:solidFill>
                  </a:tcPr>
                </a:tc>
              </a:tr>
              <a:tr h="411480">
                <a:tc>
                  <a:txBody>
                    <a:bodyPr wrap="square"/>
                    <a:lstStyle/>
                    <a:p>
                      <a:pPr algn="l">
                        <a:lnSpc>
                          <a:spcPct val="110000"/>
                        </a:lnSpc>
                      </a:pPr>
                      <a:r>
                        <a:rPr sz="1300" b="0" i="0">
                          <a:solidFill>
                            <a:srgbClr val="1F2433"/>
                          </a:solidFill>
                          <a:latin typeface="Segoe UI"/>
                          <a:cs typeface="Nirmala UI"/>
                          <a:ea typeface="Nirmala UI"/>
                        </a:rPr>
                        <a:t>Macro avg</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1505</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61.71</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76.87</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68.17</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81.64</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80.26</a:t>
                      </a:r>
                    </a:p>
                  </a:txBody>
                  <a:tcPr marL="73152" marR="73152" marT="27432" marB="27432" anchor="ctr">
                    <a:solidFill>
                      <a:srgbClr val="FFFFFF"/>
                    </a:solidFill>
                  </a:tcPr>
                </a:tc>
                <a:tc>
                  <a:txBody>
                    <a:bodyPr wrap="square"/>
                    <a:lstStyle/>
                    <a:p>
                      <a:pPr algn="ctr">
                        <a:lnSpc>
                          <a:spcPct val="110000"/>
                        </a:lnSpc>
                      </a:pPr>
                      <a:r>
                        <a:rPr sz="1300" b="1" i="0">
                          <a:solidFill>
                            <a:srgbClr val="047857"/>
                          </a:solidFill>
                          <a:latin typeface="Segoe UI"/>
                          <a:cs typeface="Nirmala UI"/>
                          <a:ea typeface="Nirmala UI"/>
                        </a:rPr>
                        <a:t>80.89</a:t>
                      </a:r>
                    </a:p>
                  </a:txBody>
                  <a:tcPr marL="73152" marR="73152" marT="27432" marB="27432" anchor="ctr">
                    <a:solidFill>
                      <a:srgbClr val="FFFFFF"/>
                    </a:solidFill>
                  </a:tcPr>
                </a:tc>
                <a:tc>
                  <a:txBody>
                    <a:bodyPr wrap="square"/>
                    <a:lstStyle/>
                    <a:p>
                      <a:pPr algn="ctr">
                        <a:lnSpc>
                          <a:spcPct val="110000"/>
                        </a:lnSpc>
                      </a:pPr>
                      <a:r>
                        <a:rPr sz="1300" b="1" i="0">
                          <a:solidFill>
                            <a:srgbClr val="047857"/>
                          </a:solidFill>
                          <a:latin typeface="Segoe UI"/>
                          <a:cs typeface="Nirmala UI"/>
                          <a:ea typeface="Nirmala UI"/>
                        </a:rPr>
                        <a:t>+12.7</a:t>
                      </a:r>
                    </a:p>
                  </a:txBody>
                  <a:tcPr marL="73152" marR="73152" marT="27432" marB="27432" anchor="ctr">
                    <a:solidFill>
                      <a:srgbClr val="FFFFFF"/>
                    </a:solidFill>
                  </a:tcPr>
                </a:tc>
              </a:tr>
            </a:tbl>
          </a:graphicData>
        </a:graphic>
      </p:graphicFrame>
      <p:sp>
        <p:nvSpPr>
          <p:cNvPr id="22" name="TextBox 21"/>
          <p:cNvSpPr txBox="1"/>
          <p:nvPr/>
        </p:nvSpPr>
        <p:spPr>
          <a:xfrm>
            <a:off x="502920" y="5349240"/>
            <a:ext cx="11155680" cy="914400"/>
          </a:xfrm>
          <a:prstGeom prst="rect">
            <a:avLst/>
          </a:prstGeom>
          <a:noFill/>
        </p:spPr>
        <p:txBody>
          <a:bodyPr wrap="square" anchor="t" lIns="45720" rIns="45720">
            <a:spAutoFit/>
          </a:bodyPr>
          <a:lstStyle/>
          <a:p>
            <a:pPr algn="l">
              <a:lnSpc>
                <a:spcPct val="110000"/>
              </a:lnSpc>
            </a:pPr>
            <a:r>
              <a:rPr sz="1300" b="0" i="0">
                <a:solidFill>
                  <a:srgbClr val="636A80"/>
                </a:solidFill>
                <a:latin typeface="Segoe UI"/>
                <a:cs typeface="Nirmala UI"/>
                <a:ea typeface="Nirmala UI"/>
              </a:rPr>
              <a:t>Strict seqeval: an entity counts only if its start, end and type all match. 965 sentences, 8,532 words, 1,505 entities. </a:t>
            </a:r>
            <a:r>
              <a:rPr sz="1300" b="1" i="0">
                <a:solidFill>
                  <a:srgbClr val="1F2433"/>
                </a:solidFill>
                <a:latin typeface="Segoe UI"/>
                <a:cs typeface="Nirmala UI"/>
                <a:ea typeface="Nirmala UI"/>
              </a:rPr>
              <a:t>The CRF wins on every class, and the gain grows with span length (ORG +20.4).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RESULTS</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Where the gain comes from</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11</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11</a:t>
            </a:r>
          </a:p>
        </p:txBody>
      </p:sp>
      <p:sp>
        <p:nvSpPr>
          <p:cNvPr id="9" name="Rectangle 8"/>
          <p:cNvSpPr/>
          <p:nvPr/>
        </p:nvSpPr>
        <p:spPr>
          <a:xfrm>
            <a:off x="472994" y="1271016"/>
            <a:ext cx="6094891" cy="3401568"/>
          </a:xfrm>
          <a:prstGeom prst="rect">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1_comparison.png"/>
          <p:cNvPicPr>
            <a:picLocks noChangeAspect="1"/>
          </p:cNvPicPr>
          <p:nvPr/>
        </p:nvPicPr>
        <p:blipFill>
          <a:blip r:embed="rId2"/>
          <a:stretch>
            <a:fillRect/>
          </a:stretch>
        </p:blipFill>
        <p:spPr>
          <a:xfrm>
            <a:off x="527858" y="1325880"/>
            <a:ext cx="5985163" cy="3291840"/>
          </a:xfrm>
          <a:prstGeom prst="rect">
            <a:avLst/>
          </a:prstGeom>
        </p:spPr>
      </p:pic>
      <p:sp>
        <p:nvSpPr>
          <p:cNvPr id="11" name="Rounded Rectangle 10"/>
          <p:cNvSpPr/>
          <p:nvPr/>
        </p:nvSpPr>
        <p:spPr>
          <a:xfrm>
            <a:off x="6812280" y="1325880"/>
            <a:ext cx="4873752" cy="493776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463039"/>
            <a:ext cx="4416552"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Reading the numbers</a:t>
            </a:r>
          </a:p>
        </p:txBody>
      </p:sp>
      <p:sp>
        <p:nvSpPr>
          <p:cNvPr id="13" name="TextBox 12"/>
          <p:cNvSpPr txBox="1"/>
          <p:nvPr/>
        </p:nvSpPr>
        <p:spPr>
          <a:xfrm>
            <a:off x="7040880" y="1828800"/>
            <a:ext cx="4480560" cy="4389120"/>
          </a:xfrm>
          <a:prstGeom prst="rect">
            <a:avLst/>
          </a:prstGeom>
          <a:noFill/>
        </p:spPr>
        <p:txBody>
          <a:bodyPr wrap="square" anchor="t" lIns="45720" rIns="45720">
            <a:spAutoFit/>
          </a:bodyPr>
          <a:lstStyle/>
          <a:p>
            <a:pPr algn="l">
              <a:lnSpc>
                <a:spcPct val="110000"/>
              </a:lnSpc>
              <a:spcAft>
                <a:spcPts val="8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Softmax over-predicts: </a:t>
            </a:r>
            <a:r>
              <a:rPr sz="1400" b="0" i="0">
                <a:solidFill>
                  <a:srgbClr val="1F2433"/>
                </a:solidFill>
                <a:latin typeface="Segoe UI"/>
                <a:cs typeface="Nirmala UI"/>
                <a:ea typeface="Nirmala UI"/>
              </a:rPr>
              <a:t>~1,876 entities predicted for 1,505 real ones. Class weights (I-LOC ≈ 86× O) push doubtful words into entities.</a:t>
            </a:r>
          </a:p>
          <a:p>
            <a:pPr algn="l">
              <a:lnSpc>
                <a:spcPct val="110000"/>
              </a:lnSpc>
              <a:spcAft>
                <a:spcPts val="8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CRF predicts ~1,498, </a:t>
            </a:r>
            <a:r>
              <a:rPr sz="1400" b="0" i="0">
                <a:solidFill>
                  <a:srgbClr val="1F2433"/>
                </a:solidFill>
                <a:latin typeface="Segoe UI"/>
                <a:cs typeface="Nirmala UI"/>
                <a:ea typeface="Nirmala UI"/>
              </a:rPr>
              <a:t>almost exactly the true count, so precision and recall are balanced.</a:t>
            </a:r>
          </a:p>
          <a:p>
            <a:pPr algn="l">
              <a:lnSpc>
                <a:spcPct val="110000"/>
              </a:lnSpc>
              <a:spcAft>
                <a:spcPts val="8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Biggest gain on ORG (+20.4): </a:t>
            </a:r>
            <a:r>
              <a:rPr sz="1400" b="0" i="0">
                <a:solidFill>
                  <a:srgbClr val="1F2433"/>
                </a:solidFill>
                <a:latin typeface="Segoe UI"/>
                <a:cs typeface="Nirmala UI"/>
                <a:ea typeface="Nirmala UI"/>
              </a:rPr>
              <a:t>long spans have more transitions to get right.</a:t>
            </a:r>
          </a:p>
          <a:p>
            <a:pPr algn="l">
              <a:lnSpc>
                <a:spcPct val="110000"/>
              </a:lnSpc>
              <a:spcAft>
                <a:spcPts val="800"/>
              </a:spcAft>
            </a:pPr>
            <a:r>
              <a:rPr sz="1400" b="1" i="0">
                <a:solidFill>
                  <a:srgbClr val="3F51B5"/>
                </a:solidFill>
                <a:latin typeface="Segoe UI"/>
                <a:cs typeface="Nirmala UI"/>
                <a:ea typeface="Nirmala UI"/>
              </a:rPr>
              <a:t>•  </a:t>
            </a:r>
            <a:r>
              <a:rPr sz="1400" b="1" i="0">
                <a:solidFill>
                  <a:srgbClr val="3F51B5"/>
                </a:solidFill>
                <a:latin typeface="Segoe UI"/>
                <a:cs typeface="Nirmala UI"/>
                <a:ea typeface="Nirmala UI"/>
              </a:rPr>
              <a:t>Ranking PER &gt; LOC &gt; ORG </a:t>
            </a:r>
            <a:r>
              <a:rPr sz="1400" b="0" i="0">
                <a:solidFill>
                  <a:srgbClr val="1F2433"/>
                </a:solidFill>
                <a:latin typeface="Segoe UI"/>
                <a:cs typeface="Nirmala UI"/>
                <a:ea typeface="Nirmala UI"/>
              </a:rPr>
              <a:t>matches the base paper: ORG is hardest for everyone.</a:t>
            </a:r>
          </a:p>
        </p:txBody>
      </p:sp>
      <p:sp>
        <p:nvSpPr>
          <p:cNvPr id="14" name="TextBox 13"/>
          <p:cNvSpPr txBox="1"/>
          <p:nvPr/>
        </p:nvSpPr>
        <p:spPr>
          <a:xfrm>
            <a:off x="502920" y="4800600"/>
            <a:ext cx="6035040" cy="1463040"/>
          </a:xfrm>
          <a:prstGeom prst="rect">
            <a:avLst/>
          </a:prstGeom>
          <a:noFill/>
        </p:spPr>
        <p:txBody>
          <a:bodyPr wrap="square" anchor="t" lIns="45720" rIns="45720">
            <a:spAutoFit/>
          </a:bodyPr>
          <a:lstStyle/>
          <a:p>
            <a:pPr algn="l">
              <a:lnSpc>
                <a:spcPct val="110000"/>
              </a:lnSpc>
            </a:pPr>
            <a:r>
              <a:rPr sz="1300" b="1" i="0">
                <a:solidFill>
                  <a:srgbClr val="B91C1C"/>
                </a:solidFill>
                <a:latin typeface="Segoe UI"/>
                <a:cs typeface="Nirmala UI"/>
                <a:ea typeface="Nirmala UI"/>
              </a:rPr>
              <a:t>Note: </a:t>
            </a:r>
            <a:r>
              <a:rPr sz="1300" b="0" i="0">
                <a:solidFill>
                  <a:srgbClr val="1F2433"/>
                </a:solidFill>
                <a:latin typeface="Segoe UI"/>
                <a:cs typeface="Nirmala UI"/>
                <a:ea typeface="Nirmala UI"/>
              </a:rPr>
              <a:t>the two models differ in decoder and in loss weighting, so +12 F1 is their combined effect. The drop in invalid transitions (98 → 20) is a direct effect of the CRF.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ANALYSIS</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Error analysis: confusion matrices</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12</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12</a:t>
            </a:r>
          </a:p>
        </p:txBody>
      </p:sp>
      <p:sp>
        <p:nvSpPr>
          <p:cNvPr id="9" name="Rectangle 8"/>
          <p:cNvSpPr/>
          <p:nvPr/>
        </p:nvSpPr>
        <p:spPr>
          <a:xfrm>
            <a:off x="1836943" y="1225295"/>
            <a:ext cx="8515064" cy="3493008"/>
          </a:xfrm>
          <a:prstGeom prst="rect">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nb_cm_both.png"/>
          <p:cNvPicPr>
            <a:picLocks noChangeAspect="1"/>
          </p:cNvPicPr>
          <p:nvPr/>
        </p:nvPicPr>
        <p:blipFill>
          <a:blip r:embed="rId2"/>
          <a:stretch>
            <a:fillRect/>
          </a:stretch>
        </p:blipFill>
        <p:spPr>
          <a:xfrm>
            <a:off x="1891807" y="1280160"/>
            <a:ext cx="8405336" cy="3383280"/>
          </a:xfrm>
          <a:prstGeom prst="rect">
            <a:avLst/>
          </a:prstGeom>
        </p:spPr>
      </p:pic>
      <p:sp>
        <p:nvSpPr>
          <p:cNvPr id="11" name="TextBox 10"/>
          <p:cNvSpPr txBox="1"/>
          <p:nvPr/>
        </p:nvSpPr>
        <p:spPr>
          <a:xfrm>
            <a:off x="502920" y="4709160"/>
            <a:ext cx="11155680" cy="320040"/>
          </a:xfrm>
          <a:prstGeom prst="rect">
            <a:avLst/>
          </a:prstGeom>
          <a:noFill/>
        </p:spPr>
        <p:txBody>
          <a:bodyPr wrap="square" anchor="t" lIns="45720" rIns="45720">
            <a:spAutoFit/>
          </a:bodyPr>
          <a:lstStyle/>
          <a:p>
            <a:pPr algn="l">
              <a:lnSpc>
                <a:spcPct val="110000"/>
              </a:lnSpc>
            </a:pPr>
            <a:r>
              <a:rPr sz="1100" b="0" i="1">
                <a:solidFill>
                  <a:srgbClr val="636A80"/>
                </a:solidFill>
                <a:latin typeface="Segoe UI"/>
                <a:cs typeface="Nirmala UI"/>
                <a:ea typeface="Nirmala UI"/>
              </a:rPr>
              <a:t>Rows = true tag, columns = predicted tag. Left: softmax. Right: CRF.</a:t>
            </a:r>
          </a:p>
        </p:txBody>
      </p:sp>
      <p:sp>
        <p:nvSpPr>
          <p:cNvPr id="12" name="Rounded Rectangle 11"/>
          <p:cNvSpPr/>
          <p:nvPr/>
        </p:nvSpPr>
        <p:spPr>
          <a:xfrm>
            <a:off x="502920" y="5074920"/>
            <a:ext cx="2651760" cy="118872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5138928"/>
            <a:ext cx="2377440" cy="365760"/>
          </a:xfrm>
          <a:prstGeom prst="rect">
            <a:avLst/>
          </a:prstGeom>
          <a:noFill/>
        </p:spPr>
        <p:txBody>
          <a:bodyPr wrap="square" anchor="t" lIns="45720" rIns="45720">
            <a:spAutoFit/>
          </a:bodyPr>
          <a:lstStyle/>
          <a:p>
            <a:pPr algn="l">
              <a:lnSpc>
                <a:spcPct val="110000"/>
              </a:lnSpc>
            </a:pPr>
            <a:r>
              <a:rPr sz="1400" b="1" i="0">
                <a:solidFill>
                  <a:srgbClr val="3F51B5"/>
                </a:solidFill>
                <a:latin typeface="Segoe UI"/>
                <a:cs typeface="Nirmala UI"/>
                <a:ea typeface="Nirmala UI"/>
              </a:rPr>
              <a:t>Fewer false alarms</a:t>
            </a:r>
          </a:p>
        </p:txBody>
      </p:sp>
      <p:sp>
        <p:nvSpPr>
          <p:cNvPr id="14" name="TextBox 13"/>
          <p:cNvSpPr txBox="1"/>
          <p:nvPr/>
        </p:nvSpPr>
        <p:spPr>
          <a:xfrm>
            <a:off x="667512" y="5486400"/>
            <a:ext cx="2377440" cy="777240"/>
          </a:xfrm>
          <a:prstGeom prst="rect">
            <a:avLst/>
          </a:prstGeom>
          <a:noFill/>
        </p:spPr>
        <p:txBody>
          <a:bodyPr wrap="square" anchor="t" lIns="45720" rIns="45720">
            <a:spAutoFit/>
          </a:bodyPr>
          <a:lstStyle/>
          <a:p>
            <a:pPr algn="l">
              <a:lnSpc>
                <a:spcPct val="110000"/>
              </a:lnSpc>
            </a:pPr>
            <a:r>
              <a:rPr sz="1200" b="0" i="0">
                <a:solidFill>
                  <a:srgbClr val="1F2433"/>
                </a:solidFill>
                <a:latin typeface="Segoe UI"/>
                <a:cs typeface="Nirmala UI"/>
                <a:ea typeface="Nirmala UI"/>
              </a:rPr>
              <a:t>O words tagged as entities: 800 → 150</a:t>
            </a:r>
          </a:p>
        </p:txBody>
      </p:sp>
      <p:sp>
        <p:nvSpPr>
          <p:cNvPr id="15" name="Rounded Rectangle 14"/>
          <p:cNvSpPr/>
          <p:nvPr/>
        </p:nvSpPr>
        <p:spPr>
          <a:xfrm>
            <a:off x="3319272" y="5074920"/>
            <a:ext cx="2651760" cy="118872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3864" y="5138928"/>
            <a:ext cx="2377440" cy="365760"/>
          </a:xfrm>
          <a:prstGeom prst="rect">
            <a:avLst/>
          </a:prstGeom>
          <a:noFill/>
        </p:spPr>
        <p:txBody>
          <a:bodyPr wrap="square" anchor="t" lIns="45720" rIns="45720">
            <a:spAutoFit/>
          </a:bodyPr>
          <a:lstStyle/>
          <a:p>
            <a:pPr algn="l">
              <a:lnSpc>
                <a:spcPct val="110000"/>
              </a:lnSpc>
            </a:pPr>
            <a:r>
              <a:rPr sz="1400" b="1" i="0">
                <a:solidFill>
                  <a:srgbClr val="3F51B5"/>
                </a:solidFill>
                <a:latin typeface="Segoe UI"/>
                <a:cs typeface="Nirmala UI"/>
                <a:ea typeface="Nirmala UI"/>
              </a:rPr>
              <a:t>Detection &gt; typing</a:t>
            </a:r>
          </a:p>
        </p:txBody>
      </p:sp>
      <p:sp>
        <p:nvSpPr>
          <p:cNvPr id="17" name="TextBox 16"/>
          <p:cNvSpPr txBox="1"/>
          <p:nvPr/>
        </p:nvSpPr>
        <p:spPr>
          <a:xfrm>
            <a:off x="3483864" y="5486400"/>
            <a:ext cx="2377440" cy="777240"/>
          </a:xfrm>
          <a:prstGeom prst="rect">
            <a:avLst/>
          </a:prstGeom>
          <a:noFill/>
        </p:spPr>
        <p:txBody>
          <a:bodyPr wrap="square" anchor="t" lIns="45720" rIns="45720">
            <a:spAutoFit/>
          </a:bodyPr>
          <a:lstStyle/>
          <a:p>
            <a:pPr algn="l">
              <a:lnSpc>
                <a:spcPct val="110000"/>
              </a:lnSpc>
            </a:pPr>
            <a:r>
              <a:rPr sz="1200" b="0" i="0">
                <a:solidFill>
                  <a:srgbClr val="1F2433"/>
                </a:solidFill>
                <a:latin typeface="Segoe UI"/>
                <a:cs typeface="Nirmala UI"/>
                <a:ea typeface="Nirmala UI"/>
              </a:rPr>
              <a:t>292 entity words missed, only 35 typed wrong</a:t>
            </a:r>
          </a:p>
        </p:txBody>
      </p:sp>
      <p:sp>
        <p:nvSpPr>
          <p:cNvPr id="18" name="Rounded Rectangle 17"/>
          <p:cNvSpPr/>
          <p:nvPr/>
        </p:nvSpPr>
        <p:spPr>
          <a:xfrm>
            <a:off x="6135624" y="5074920"/>
            <a:ext cx="2651760" cy="118872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0216" y="5138928"/>
            <a:ext cx="2377440" cy="365760"/>
          </a:xfrm>
          <a:prstGeom prst="rect">
            <a:avLst/>
          </a:prstGeom>
          <a:noFill/>
        </p:spPr>
        <p:txBody>
          <a:bodyPr wrap="square" anchor="t" lIns="45720" rIns="45720">
            <a:spAutoFit/>
          </a:bodyPr>
          <a:lstStyle/>
          <a:p>
            <a:pPr algn="l">
              <a:lnSpc>
                <a:spcPct val="110000"/>
              </a:lnSpc>
            </a:pPr>
            <a:r>
              <a:rPr sz="1400" b="1" i="0">
                <a:solidFill>
                  <a:srgbClr val="3F51B5"/>
                </a:solidFill>
                <a:latin typeface="Segoe UI"/>
                <a:cs typeface="Nirmala UI"/>
                <a:ea typeface="Nirmala UI"/>
              </a:rPr>
              <a:t>ORG spans cut short</a:t>
            </a:r>
          </a:p>
        </p:txBody>
      </p:sp>
      <p:sp>
        <p:nvSpPr>
          <p:cNvPr id="20" name="TextBox 19"/>
          <p:cNvSpPr txBox="1"/>
          <p:nvPr/>
        </p:nvSpPr>
        <p:spPr>
          <a:xfrm>
            <a:off x="6300216" y="5486400"/>
            <a:ext cx="2377440" cy="777240"/>
          </a:xfrm>
          <a:prstGeom prst="rect">
            <a:avLst/>
          </a:prstGeom>
          <a:noFill/>
        </p:spPr>
        <p:txBody>
          <a:bodyPr wrap="square" anchor="t" lIns="45720" rIns="45720">
            <a:spAutoFit/>
          </a:bodyPr>
          <a:lstStyle/>
          <a:p>
            <a:pPr algn="l">
              <a:lnSpc>
                <a:spcPct val="110000"/>
              </a:lnSpc>
            </a:pPr>
            <a:r>
              <a:rPr sz="1200" b="0" i="0">
                <a:solidFill>
                  <a:srgbClr val="1F2433"/>
                </a:solidFill>
                <a:latin typeface="Segoe UI"/>
                <a:cs typeface="Nirmala UI"/>
                <a:ea typeface="Nirmala UI"/>
              </a:rPr>
              <a:t>123 of 249 I-ORG → O (“Kochi Metro” vs “Kochi Metro Rail Ltd”)</a:t>
            </a:r>
          </a:p>
        </p:txBody>
      </p:sp>
      <p:sp>
        <p:nvSpPr>
          <p:cNvPr id="21" name="Rounded Rectangle 20"/>
          <p:cNvSpPr/>
          <p:nvPr/>
        </p:nvSpPr>
        <p:spPr>
          <a:xfrm>
            <a:off x="8951976" y="5074920"/>
            <a:ext cx="2651760" cy="118872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16568" y="5138928"/>
            <a:ext cx="2377440" cy="365760"/>
          </a:xfrm>
          <a:prstGeom prst="rect">
            <a:avLst/>
          </a:prstGeom>
          <a:noFill/>
        </p:spPr>
        <p:txBody>
          <a:bodyPr wrap="square" anchor="t" lIns="45720" rIns="45720">
            <a:spAutoFit/>
          </a:bodyPr>
          <a:lstStyle/>
          <a:p>
            <a:pPr algn="l">
              <a:lnSpc>
                <a:spcPct val="110000"/>
              </a:lnSpc>
            </a:pPr>
            <a:r>
              <a:rPr sz="1400" b="1" i="0">
                <a:solidFill>
                  <a:srgbClr val="3F51B5"/>
                </a:solidFill>
                <a:latin typeface="Segoe UI"/>
                <a:cs typeface="Nirmala UI"/>
                <a:ea typeface="Nirmala UI"/>
              </a:rPr>
              <a:t>ORG / LOC ambiguity</a:t>
            </a:r>
          </a:p>
        </p:txBody>
      </p:sp>
      <p:sp>
        <p:nvSpPr>
          <p:cNvPr id="23" name="TextBox 22"/>
          <p:cNvSpPr txBox="1"/>
          <p:nvPr/>
        </p:nvSpPr>
        <p:spPr>
          <a:xfrm>
            <a:off x="9116568" y="5486400"/>
            <a:ext cx="2377440" cy="777240"/>
          </a:xfrm>
          <a:prstGeom prst="rect">
            <a:avLst/>
          </a:prstGeom>
          <a:noFill/>
        </p:spPr>
        <p:txBody>
          <a:bodyPr wrap="square" anchor="t" lIns="45720" rIns="45720">
            <a:spAutoFit/>
          </a:bodyPr>
          <a:lstStyle/>
          <a:p>
            <a:pPr algn="l">
              <a:lnSpc>
                <a:spcPct val="110000"/>
              </a:lnSpc>
            </a:pPr>
            <a:r>
              <a:rPr sz="1200" b="0" i="0">
                <a:solidFill>
                  <a:srgbClr val="1F2433"/>
                </a:solidFill>
                <a:latin typeface="Segoe UI"/>
                <a:cs typeface="Nirmala UI"/>
                <a:ea typeface="Nirmala UI"/>
              </a:rPr>
              <a:t>12 B-ORG → B-LOC: org names that start with a place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COMPARISON</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Comparison with published work</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13</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13</a:t>
            </a:r>
          </a:p>
        </p:txBody>
      </p:sp>
      <p:graphicFrame>
        <p:nvGraphicFramePr>
          <p:cNvPr id="9" name="Table 8"/>
          <p:cNvGraphicFramePr>
            <a:graphicFrameLocks noGrp="1"/>
          </p:cNvGraphicFramePr>
          <p:nvPr/>
        </p:nvGraphicFramePr>
        <p:xfrm>
          <a:off x="502920" y="1371600"/>
          <a:ext cx="7498078" cy="3520440"/>
        </p:xfrm>
        <a:graphic>
          <a:graphicData uri="http://schemas.openxmlformats.org/drawingml/2006/table">
            <a:tbl>
              <a:tblPr firstRow="0" bandRow="0">
                <a:tableStyleId>{5940675A-B579-460E-94D1-54222C63F5DA}</a:tableStyleId>
              </a:tblPr>
              <a:tblGrid>
                <a:gridCol w="2909702"/>
                <a:gridCol w="1902497"/>
                <a:gridCol w="895293"/>
                <a:gridCol w="895293"/>
                <a:gridCol w="895293"/>
              </a:tblGrid>
              <a:tr h="502920">
                <a:tc>
                  <a:txBody>
                    <a:bodyPr wrap="square"/>
                    <a:lstStyle/>
                    <a:p>
                      <a:pPr algn="l">
                        <a:lnSpc>
                          <a:spcPct val="110000"/>
                        </a:lnSpc>
                      </a:pPr>
                      <a:r>
                        <a:rPr sz="1300" b="1" i="0">
                          <a:solidFill>
                            <a:srgbClr val="FFFFFF"/>
                          </a:solidFill>
                          <a:latin typeface="Segoe UI"/>
                          <a:cs typeface="Nirmala UI"/>
                          <a:ea typeface="Nirmala UI"/>
                        </a:rPr>
                        <a:t>System</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Dataset</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P</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R</a:t>
                      </a:r>
                    </a:p>
                  </a:txBody>
                  <a:tcPr marL="73152" marR="73152" marT="27432" marB="27432" anchor="ctr">
                    <a:solidFill>
                      <a:srgbClr val="3F51B5"/>
                    </a:solidFill>
                  </a:tcPr>
                </a:tc>
                <a:tc>
                  <a:txBody>
                    <a:bodyPr wrap="square"/>
                    <a:lstStyle/>
                    <a:p>
                      <a:pPr algn="ctr">
                        <a:lnSpc>
                          <a:spcPct val="110000"/>
                        </a:lnSpc>
                      </a:pPr>
                      <a:r>
                        <a:rPr sz="1300" b="1" i="0">
                          <a:solidFill>
                            <a:srgbClr val="FFFFFF"/>
                          </a:solidFill>
                          <a:latin typeface="Segoe UI"/>
                          <a:cs typeface="Nirmala UI"/>
                          <a:ea typeface="Nirmala UI"/>
                        </a:rPr>
                        <a:t>F1</a:t>
                      </a:r>
                    </a:p>
                  </a:txBody>
                  <a:tcPr marL="73152" marR="73152" marT="27432" marB="27432" anchor="ctr">
                    <a:solidFill>
                      <a:srgbClr val="3F51B5"/>
                    </a:solidFill>
                  </a:tcPr>
                </a:tc>
              </a:tr>
              <a:tr h="502920">
                <a:tc>
                  <a:txBody>
                    <a:bodyPr wrap="square"/>
                    <a:lstStyle/>
                    <a:p>
                      <a:pPr algn="l">
                        <a:lnSpc>
                          <a:spcPct val="110000"/>
                        </a:lnSpc>
                      </a:pPr>
                      <a:r>
                        <a:rPr sz="1300" b="0" i="0">
                          <a:solidFill>
                            <a:srgbClr val="1F2433"/>
                          </a:solidFill>
                          <a:latin typeface="Segoe UI"/>
                          <a:cs typeface="Nirmala UI"/>
                          <a:ea typeface="Nirmala UI"/>
                        </a:rPr>
                        <a:t>Fuzzy SVM (Lakshmi 2016)</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In-house, 500 sent.</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88.13</a:t>
                      </a:r>
                    </a:p>
                  </a:txBody>
                  <a:tcPr marL="73152" marR="73152" marT="27432" marB="27432" anchor="ctr">
                    <a:solidFill>
                      <a:srgbClr val="FFFFFF"/>
                    </a:solidFill>
                  </a:tcPr>
                </a:tc>
              </a:tr>
              <a:tr h="502920">
                <a:tc>
                  <a:txBody>
                    <a:bodyPr wrap="square"/>
                    <a:lstStyle/>
                    <a:p>
                      <a:pPr algn="l">
                        <a:lnSpc>
                          <a:spcPct val="110000"/>
                        </a:lnSpc>
                      </a:pPr>
                      <a:r>
                        <a:rPr sz="1300" b="0" i="0">
                          <a:solidFill>
                            <a:srgbClr val="1F2433"/>
                          </a:solidFill>
                          <a:latin typeface="Segoe UI"/>
                          <a:cs typeface="Nirmala UI"/>
                          <a:ea typeface="Nirmala UI"/>
                        </a:rPr>
                        <a:t>IndicNER (cited in base paper)</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Naamapadam</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81.67</a:t>
                      </a:r>
                    </a:p>
                  </a:txBody>
                  <a:tcPr marL="73152" marR="73152" marT="27432" marB="27432" anchor="ctr">
                    <a:solidFill>
                      <a:srgbClr val="F4F5FB"/>
                    </a:solidFill>
                  </a:tcPr>
                </a:tc>
              </a:tr>
              <a:tr h="502920">
                <a:tc>
                  <a:txBody>
                    <a:bodyPr wrap="square"/>
                    <a:lstStyle/>
                    <a:p>
                      <a:pPr algn="l">
                        <a:lnSpc>
                          <a:spcPct val="110000"/>
                        </a:lnSpc>
                      </a:pPr>
                      <a:r>
                        <a:rPr sz="1300" b="0" i="0">
                          <a:solidFill>
                            <a:srgbClr val="1F2433"/>
                          </a:solidFill>
                          <a:latin typeface="Segoe UI"/>
                          <a:cs typeface="Nirmala UI"/>
                          <a:ea typeface="Nirmala UI"/>
                        </a:rPr>
                        <a:t>mBERT + softmax (base paper)</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WikiAnn</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82.10</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82.10</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82.20</a:t>
                      </a:r>
                    </a:p>
                  </a:txBody>
                  <a:tcPr marL="73152" marR="73152" marT="27432" marB="27432" anchor="ctr">
                    <a:solidFill>
                      <a:srgbClr val="FFFFFF"/>
                    </a:solidFill>
                  </a:tcPr>
                </a:tc>
              </a:tr>
              <a:tr h="502920">
                <a:tc>
                  <a:txBody>
                    <a:bodyPr wrap="square"/>
                    <a:lstStyle/>
                    <a:p>
                      <a:pPr algn="l">
                        <a:lnSpc>
                          <a:spcPct val="110000"/>
                        </a:lnSpc>
                      </a:pPr>
                      <a:r>
                        <a:rPr sz="1300" b="0" i="0">
                          <a:solidFill>
                            <a:srgbClr val="1F2433"/>
                          </a:solidFill>
                          <a:latin typeface="Segoe UI"/>
                          <a:cs typeface="Nirmala UI"/>
                          <a:ea typeface="Nirmala UI"/>
                        </a:rPr>
                        <a:t>m-BERT (Gopalakrishnan 2025)</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Unreleased</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95.37</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96.55</a:t>
                      </a:r>
                    </a:p>
                  </a:txBody>
                  <a:tcPr marL="73152" marR="73152" marT="27432" marB="27432" anchor="ctr">
                    <a:solidFill>
                      <a:srgbClr val="F4F5FB"/>
                    </a:solidFill>
                  </a:tcPr>
                </a:tc>
                <a:tc>
                  <a:txBody>
                    <a:bodyPr wrap="square"/>
                    <a:lstStyle/>
                    <a:p>
                      <a:pPr algn="ctr">
                        <a:lnSpc>
                          <a:spcPct val="110000"/>
                        </a:lnSpc>
                      </a:pPr>
                      <a:r>
                        <a:rPr sz="1300" b="0" i="0">
                          <a:solidFill>
                            <a:srgbClr val="1F2433"/>
                          </a:solidFill>
                          <a:latin typeface="Segoe UI"/>
                          <a:cs typeface="Nirmala UI"/>
                          <a:ea typeface="Nirmala UI"/>
                        </a:rPr>
                        <a:t>96.45</a:t>
                      </a:r>
                    </a:p>
                  </a:txBody>
                  <a:tcPr marL="73152" marR="73152" marT="27432" marB="27432" anchor="ctr">
                    <a:solidFill>
                      <a:srgbClr val="F4F5FB"/>
                    </a:solidFill>
                  </a:tcPr>
                </a:tc>
              </a:tr>
              <a:tr h="502920">
                <a:tc>
                  <a:txBody>
                    <a:bodyPr wrap="square"/>
                    <a:lstStyle/>
                    <a:p>
                      <a:pPr algn="l">
                        <a:lnSpc>
                          <a:spcPct val="110000"/>
                        </a:lnSpc>
                      </a:pPr>
                      <a:r>
                        <a:rPr sz="1300" b="0" i="0">
                          <a:solidFill>
                            <a:srgbClr val="1F2433"/>
                          </a:solidFill>
                          <a:latin typeface="Segoe UI"/>
                          <a:cs typeface="Nirmala UI"/>
                          <a:ea typeface="Nirmala UI"/>
                        </a:rPr>
                        <a:t>Ours: IndicBERTv2 + softmax</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Naamapadam</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65.09</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81.13</a:t>
                      </a:r>
                    </a:p>
                  </a:txBody>
                  <a:tcPr marL="73152" marR="73152" marT="27432" marB="27432" anchor="ctr">
                    <a:solidFill>
                      <a:srgbClr val="FFFFFF"/>
                    </a:solidFill>
                  </a:tcPr>
                </a:tc>
                <a:tc>
                  <a:txBody>
                    <a:bodyPr wrap="square"/>
                    <a:lstStyle/>
                    <a:p>
                      <a:pPr algn="ctr">
                        <a:lnSpc>
                          <a:spcPct val="110000"/>
                        </a:lnSpc>
                      </a:pPr>
                      <a:r>
                        <a:rPr sz="1300" b="0" i="0">
                          <a:solidFill>
                            <a:srgbClr val="1F2433"/>
                          </a:solidFill>
                          <a:latin typeface="Segoe UI"/>
                          <a:cs typeface="Nirmala UI"/>
                          <a:ea typeface="Nirmala UI"/>
                        </a:rPr>
                        <a:t>72.23</a:t>
                      </a:r>
                    </a:p>
                  </a:txBody>
                  <a:tcPr marL="73152" marR="73152" marT="27432" marB="27432" anchor="ctr">
                    <a:solidFill>
                      <a:srgbClr val="FFFFFF"/>
                    </a:solidFill>
                  </a:tcPr>
                </a:tc>
              </a:tr>
              <a:tr h="502920">
                <a:tc>
                  <a:txBody>
                    <a:bodyPr wrap="square"/>
                    <a:lstStyle/>
                    <a:p>
                      <a:pPr algn="l">
                        <a:lnSpc>
                          <a:spcPct val="110000"/>
                        </a:lnSpc>
                      </a:pPr>
                      <a:r>
                        <a:rPr sz="1300" b="1" i="0">
                          <a:solidFill>
                            <a:srgbClr val="1F2433"/>
                          </a:solidFill>
                          <a:latin typeface="Segoe UI"/>
                          <a:cs typeface="Nirmala UI"/>
                          <a:ea typeface="Nirmala UI"/>
                        </a:rPr>
                        <a:t>Ours: IndicBERTv2 + CRF</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Naamapadam</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84.45</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84.05</a:t>
                      </a:r>
                    </a:p>
                  </a:txBody>
                  <a:tcPr marL="73152" marR="73152" marT="27432" marB="27432" anchor="ctr">
                    <a:solidFill>
                      <a:srgbClr val="F4F5FB"/>
                    </a:solidFill>
                  </a:tcPr>
                </a:tc>
                <a:tc>
                  <a:txBody>
                    <a:bodyPr wrap="square"/>
                    <a:lstStyle/>
                    <a:p>
                      <a:pPr algn="ctr">
                        <a:lnSpc>
                          <a:spcPct val="110000"/>
                        </a:lnSpc>
                      </a:pPr>
                      <a:r>
                        <a:rPr sz="1300" b="1" i="0">
                          <a:solidFill>
                            <a:srgbClr val="1F2433"/>
                          </a:solidFill>
                          <a:latin typeface="Segoe UI"/>
                          <a:cs typeface="Nirmala UI"/>
                          <a:ea typeface="Nirmala UI"/>
                        </a:rPr>
                        <a:t>84.25</a:t>
                      </a:r>
                    </a:p>
                  </a:txBody>
                  <a:tcPr marL="73152" marR="73152" marT="27432" marB="27432" anchor="ctr">
                    <a:solidFill>
                      <a:srgbClr val="F4F5FB"/>
                    </a:solidFill>
                  </a:tcPr>
                </a:tc>
              </a:tr>
            </a:tbl>
          </a:graphicData>
        </a:graphic>
      </p:graphicFrame>
      <p:sp>
        <p:nvSpPr>
          <p:cNvPr id="10" name="Rounded Rectangle 9"/>
          <p:cNvSpPr/>
          <p:nvPr/>
        </p:nvSpPr>
        <p:spPr>
          <a:xfrm>
            <a:off x="8229600" y="1371600"/>
            <a:ext cx="3456432" cy="489204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1508760"/>
            <a:ext cx="2999232"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How to read this</a:t>
            </a:r>
          </a:p>
        </p:txBody>
      </p:sp>
      <p:sp>
        <p:nvSpPr>
          <p:cNvPr id="12" name="TextBox 11"/>
          <p:cNvSpPr txBox="1"/>
          <p:nvPr/>
        </p:nvSpPr>
        <p:spPr>
          <a:xfrm>
            <a:off x="8458200" y="1874519"/>
            <a:ext cx="3063240" cy="4389120"/>
          </a:xfrm>
          <a:prstGeom prst="rect">
            <a:avLst/>
          </a:prstGeom>
          <a:noFill/>
        </p:spPr>
        <p:txBody>
          <a:bodyPr wrap="square" anchor="t" lIns="45720" rIns="45720">
            <a:spAutoFit/>
          </a:bodyPr>
          <a:lstStyle/>
          <a:p>
            <a:pPr algn="l">
              <a:lnSpc>
                <a:spcPct val="110000"/>
              </a:lnSpc>
              <a:spcAft>
                <a:spcPts val="8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Datasets and metrics differ, so the table is indicative only</a:t>
            </a:r>
          </a:p>
          <a:p>
            <a:pPr algn="l">
              <a:lnSpc>
                <a:spcPct val="110000"/>
              </a:lnSpc>
              <a:spcAft>
                <a:spcPts val="8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On the </a:t>
            </a:r>
            <a:r>
              <a:rPr sz="1400" b="1" i="0">
                <a:solidFill>
                  <a:srgbClr val="1F2433"/>
                </a:solidFill>
                <a:latin typeface="Segoe UI"/>
                <a:cs typeface="Nirmala UI"/>
                <a:ea typeface="Nirmala UI"/>
              </a:rPr>
              <a:t>same benchmark</a:t>
            </a:r>
            <a:r>
              <a:rPr sz="1400" b="0" i="0">
                <a:solidFill>
                  <a:srgbClr val="1F2433"/>
                </a:solidFill>
                <a:latin typeface="Segoe UI"/>
                <a:cs typeface="Nirmala UI"/>
                <a:ea typeface="Nirmala UI"/>
              </a:rPr>
              <a:t> as IndicNER we score higher: 84.25 vs 81.67</a:t>
            </a:r>
          </a:p>
          <a:p>
            <a:pPr algn="l">
              <a:lnSpc>
                <a:spcPct val="110000"/>
              </a:lnSpc>
              <a:spcAft>
                <a:spcPts val="8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We use only 7% of the training data and strict span matching</a:t>
            </a:r>
          </a:p>
          <a:p>
            <a:pPr algn="l">
              <a:lnSpc>
                <a:spcPct val="110000"/>
              </a:lnSpc>
              <a:spcAft>
                <a:spcPts val="800"/>
              </a:spcAft>
            </a:pPr>
            <a:r>
              <a:rPr sz="1400" b="1" i="0">
                <a:solidFill>
                  <a:srgbClr val="3F51B5"/>
                </a:solidFill>
                <a:latin typeface="Segoe UI"/>
                <a:cs typeface="Nirmala UI"/>
                <a:ea typeface="Nirmala UI"/>
              </a:rPr>
              <a:t>•  </a:t>
            </a:r>
            <a:r>
              <a:rPr sz="1400" b="0" i="0">
                <a:solidFill>
                  <a:srgbClr val="1F2433"/>
                </a:solidFill>
                <a:latin typeface="Segoe UI"/>
                <a:cs typeface="Nirmala UI"/>
                <a:ea typeface="Nirmala UI"/>
              </a:rPr>
              <a:t>Higher published numbers come from small or unreleased test sets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DEPLOYMENT</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From model to product: web app + REST API</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14</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14</a:t>
            </a:r>
          </a:p>
        </p:txBody>
      </p:sp>
      <p:sp>
        <p:nvSpPr>
          <p:cNvPr id="9" name="Rectangle 8"/>
          <p:cNvSpPr/>
          <p:nvPr/>
        </p:nvSpPr>
        <p:spPr>
          <a:xfrm>
            <a:off x="448056" y="1279017"/>
            <a:ext cx="6601968" cy="3842765"/>
          </a:xfrm>
          <a:prstGeom prst="rect">
            <a:avLst/>
          </a:prstGeom>
          <a:solidFill>
            <a:srgbClr val="FFFFFF"/>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emo_ui_mockup.png"/>
          <p:cNvPicPr>
            <a:picLocks noChangeAspect="1"/>
          </p:cNvPicPr>
          <p:nvPr/>
        </p:nvPicPr>
        <p:blipFill>
          <a:blip r:embed="rId2"/>
          <a:stretch>
            <a:fillRect/>
          </a:stretch>
        </p:blipFill>
        <p:spPr>
          <a:xfrm>
            <a:off x="502920" y="1333881"/>
            <a:ext cx="6492240" cy="3733037"/>
          </a:xfrm>
          <a:prstGeom prst="rect">
            <a:avLst/>
          </a:prstGeom>
        </p:spPr>
      </p:pic>
      <p:sp>
        <p:nvSpPr>
          <p:cNvPr id="11" name="TextBox 10"/>
          <p:cNvSpPr txBox="1"/>
          <p:nvPr/>
        </p:nvSpPr>
        <p:spPr>
          <a:xfrm>
            <a:off x="502920" y="5212080"/>
            <a:ext cx="6492240" cy="1097280"/>
          </a:xfrm>
          <a:prstGeom prst="rect">
            <a:avLst/>
          </a:prstGeom>
          <a:noFill/>
        </p:spPr>
        <p:txBody>
          <a:bodyPr wrap="square" anchor="t" lIns="45720" rIns="45720">
            <a:spAutoFit/>
          </a:bodyPr>
          <a:lstStyle/>
          <a:p>
            <a:pPr algn="l">
              <a:lnSpc>
                <a:spcPct val="110000"/>
              </a:lnSpc>
            </a:pPr>
            <a:r>
              <a:rPr sz="1300" b="1" i="0">
                <a:solidFill>
                  <a:srgbClr val="3F51B5"/>
                </a:solidFill>
                <a:latin typeface="Segoe UI"/>
                <a:cs typeface="Nirmala UI"/>
                <a:ea typeface="Nirmala UI"/>
              </a:rPr>
              <a:t>Gradio app (app.py): </a:t>
            </a:r>
            <a:r>
              <a:rPr sz="1300" b="0" i="0">
                <a:solidFill>
                  <a:srgbClr val="1F2433"/>
                </a:solidFill>
                <a:latin typeface="Segoe UI"/>
                <a:cs typeface="Nirmala UI"/>
                <a:ea typeface="Nirmala UI"/>
              </a:rPr>
              <a:t>colour-coded entities, confidence, Malayalam Wikipedia / Google links, class filters, bar charts, batch .txt upload with CSV export.</a:t>
            </a:r>
          </a:p>
        </p:txBody>
      </p:sp>
      <p:sp>
        <p:nvSpPr>
          <p:cNvPr id="12" name="Rounded Rectangle 11"/>
          <p:cNvSpPr/>
          <p:nvPr/>
        </p:nvSpPr>
        <p:spPr>
          <a:xfrm>
            <a:off x="7269480" y="1325880"/>
            <a:ext cx="4416552" cy="260604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1463039"/>
            <a:ext cx="3959352"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FastAPI (server.py)</a:t>
            </a:r>
          </a:p>
        </p:txBody>
      </p:sp>
      <p:sp>
        <p:nvSpPr>
          <p:cNvPr id="14" name="TextBox 13"/>
          <p:cNvSpPr txBox="1"/>
          <p:nvPr/>
        </p:nvSpPr>
        <p:spPr>
          <a:xfrm>
            <a:off x="7498079" y="1828800"/>
            <a:ext cx="4023360" cy="2103120"/>
          </a:xfrm>
          <a:prstGeom prst="rect">
            <a:avLst/>
          </a:prstGeom>
          <a:noFill/>
        </p:spPr>
        <p:txBody>
          <a:bodyPr wrap="square" anchor="t" lIns="45720" rIns="45720">
            <a:spAutoFit/>
          </a:bodyPr>
          <a:lstStyle/>
          <a:p>
            <a:pPr algn="l">
              <a:lnSpc>
                <a:spcPct val="110000"/>
              </a:lnSpc>
              <a:spcAft>
                <a:spcPts val="400"/>
              </a:spcAft>
            </a:pPr>
            <a:r>
              <a:rPr sz="1400" b="1" i="0">
                <a:solidFill>
                  <a:srgbClr val="1F2433"/>
                </a:solidFill>
                <a:latin typeface="Consolas"/>
                <a:cs typeface="Nirmala UI"/>
                <a:ea typeface="Nirmala UI"/>
              </a:rPr>
              <a:t>POST /predict</a:t>
            </a:r>
          </a:p>
          <a:p>
            <a:pPr algn="l">
              <a:lnSpc>
                <a:spcPct val="110000"/>
              </a:lnSpc>
              <a:spcAft>
                <a:spcPts val="600"/>
              </a:spcAft>
            </a:pPr>
            <a:r>
              <a:rPr sz="1200" b="0" i="0">
                <a:solidFill>
                  <a:srgbClr val="1F2433"/>
                </a:solidFill>
                <a:latin typeface="Nirmala UI"/>
                <a:cs typeface="Nirmala UI"/>
                <a:ea typeface="Nirmala UI"/>
              </a:rPr>
              <a:t>{"type": "PER",
 "text": "പിണറായി വിജയൻ",
 "confidence": 0.99}</a:t>
            </a:r>
          </a:p>
          <a:p>
            <a:pPr algn="l">
              <a:lnSpc>
                <a:spcPct val="110000"/>
              </a:lnSpc>
            </a:pPr>
            <a:r>
              <a:rPr sz="1200" b="0" i="0">
                <a:solidFill>
                  <a:srgbClr val="636A80"/>
                </a:solidFill>
                <a:latin typeface="Segoe UI"/>
                <a:cs typeface="Nirmala UI"/>
                <a:ea typeface="Nirmala UI"/>
              </a:rPr>
              <a:t>Pydantic validation, 400 on empty text, JSON spans + word tags, docs at /docs</a:t>
            </a:r>
          </a:p>
        </p:txBody>
      </p:sp>
      <p:sp>
        <p:nvSpPr>
          <p:cNvPr id="15" name="Rounded Rectangle 14"/>
          <p:cNvSpPr/>
          <p:nvPr/>
        </p:nvSpPr>
        <p:spPr>
          <a:xfrm>
            <a:off x="7269480" y="4114800"/>
            <a:ext cx="4416552" cy="214884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4251960"/>
            <a:ext cx="3959352"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Hybrid rule overlay</a:t>
            </a:r>
          </a:p>
        </p:txBody>
      </p:sp>
      <p:sp>
        <p:nvSpPr>
          <p:cNvPr id="17" name="TextBox 16"/>
          <p:cNvSpPr txBox="1"/>
          <p:nvPr/>
        </p:nvSpPr>
        <p:spPr>
          <a:xfrm>
            <a:off x="7498079" y="4617720"/>
            <a:ext cx="4023360" cy="1645920"/>
          </a:xfrm>
          <a:prstGeom prst="rect">
            <a:avLst/>
          </a:prstGeom>
          <a:noFill/>
        </p:spPr>
        <p:txBody>
          <a:bodyPr wrap="square" anchor="t" lIns="45720" rIns="45720">
            <a:spAutoFit/>
          </a:bodyPr>
          <a:lstStyle/>
          <a:p>
            <a:pPr algn="l">
              <a:lnSpc>
                <a:spcPct val="110000"/>
              </a:lnSpc>
              <a:spcAft>
                <a:spcPts val="400"/>
              </a:spcAft>
            </a:pPr>
            <a:r>
              <a:rPr sz="1200" b="1" i="0">
                <a:solidFill>
                  <a:srgbClr val="3F51B5"/>
                </a:solidFill>
                <a:latin typeface="Segoe UI"/>
                <a:cs typeface="Nirmala UI"/>
                <a:ea typeface="Nirmala UI"/>
              </a:rPr>
              <a:t>•  </a:t>
            </a:r>
            <a:r>
              <a:rPr sz="1200" b="0" i="0">
                <a:solidFill>
                  <a:srgbClr val="1F2433"/>
                </a:solidFill>
                <a:latin typeface="Segoe UI"/>
                <a:cs typeface="Nirmala UI"/>
                <a:ea typeface="Nirmala UI"/>
              </a:rPr>
              <a:t>Naamapadam has no DATE / numbers</a:t>
            </a:r>
          </a:p>
          <a:p>
            <a:pPr algn="l">
              <a:lnSpc>
                <a:spcPct val="110000"/>
              </a:lnSpc>
              <a:spcAft>
                <a:spcPts val="400"/>
              </a:spcAft>
            </a:pPr>
            <a:r>
              <a:rPr sz="1200" b="1" i="0">
                <a:solidFill>
                  <a:srgbClr val="3F51B5"/>
                </a:solidFill>
                <a:latin typeface="Segoe UI"/>
                <a:cs typeface="Nirmala UI"/>
                <a:ea typeface="Nirmala UI"/>
              </a:rPr>
              <a:t>•  </a:t>
            </a:r>
            <a:r>
              <a:rPr sz="1200" b="0" i="0">
                <a:solidFill>
                  <a:srgbClr val="1F2433"/>
                </a:solidFill>
                <a:latin typeface="Segoe UI"/>
                <a:cs typeface="Nirmala UI"/>
                <a:ea typeface="Nirmala UI"/>
              </a:rPr>
              <a:t>Regex adds DATE (month names, 12-04-2023) and CARDINAL (digits, രൂപ, കോടി)</a:t>
            </a:r>
          </a:p>
          <a:p>
            <a:pPr algn="l">
              <a:lnSpc>
                <a:spcPct val="110000"/>
              </a:lnSpc>
              <a:spcAft>
                <a:spcPts val="400"/>
              </a:spcAft>
            </a:pPr>
            <a:r>
              <a:rPr sz="1200" b="1" i="0">
                <a:solidFill>
                  <a:srgbClr val="3F51B5"/>
                </a:solidFill>
                <a:latin typeface="Segoe UI"/>
                <a:cs typeface="Nirmala UI"/>
                <a:ea typeface="Nirmala UI"/>
              </a:rPr>
              <a:t>•  </a:t>
            </a:r>
            <a:r>
              <a:rPr sz="1200" b="0" i="0">
                <a:solidFill>
                  <a:srgbClr val="1F2433"/>
                </a:solidFill>
                <a:latin typeface="Segoe UI"/>
                <a:cs typeface="Nirmala UI"/>
                <a:ea typeface="Nirmala UI"/>
              </a:rPr>
              <a:t>Only on words the model tagged O; not in any metric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CRITICAL ANALYSIS</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Strengths and limitations</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15</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15</a:t>
            </a:r>
          </a:p>
        </p:txBody>
      </p:sp>
      <p:sp>
        <p:nvSpPr>
          <p:cNvPr id="9" name="Rounded Rectangle 8"/>
          <p:cNvSpPr/>
          <p:nvPr/>
        </p:nvSpPr>
        <p:spPr>
          <a:xfrm>
            <a:off x="502920" y="1325880"/>
            <a:ext cx="5394960" cy="493776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63039"/>
            <a:ext cx="4937760" cy="411480"/>
          </a:xfrm>
          <a:prstGeom prst="rect">
            <a:avLst/>
          </a:prstGeom>
          <a:noFill/>
        </p:spPr>
        <p:txBody>
          <a:bodyPr wrap="square" anchor="t" lIns="45720" rIns="45720">
            <a:spAutoFit/>
          </a:bodyPr>
          <a:lstStyle/>
          <a:p>
            <a:pPr algn="l">
              <a:lnSpc>
                <a:spcPct val="110000"/>
              </a:lnSpc>
            </a:pPr>
            <a:r>
              <a:rPr sz="1700" b="1" i="0">
                <a:solidFill>
                  <a:srgbClr val="047857"/>
                </a:solidFill>
                <a:latin typeface="Segoe UI"/>
                <a:cs typeface="Nirmala UI"/>
                <a:ea typeface="Nirmala UI"/>
              </a:rPr>
              <a:t>Strengths</a:t>
            </a:r>
          </a:p>
        </p:txBody>
      </p:sp>
      <p:sp>
        <p:nvSpPr>
          <p:cNvPr id="11" name="TextBox 10"/>
          <p:cNvSpPr txBox="1"/>
          <p:nvPr/>
        </p:nvSpPr>
        <p:spPr>
          <a:xfrm>
            <a:off x="731520" y="1828800"/>
            <a:ext cx="4983480" cy="4389120"/>
          </a:xfrm>
          <a:prstGeom prst="rect">
            <a:avLst/>
          </a:prstGeom>
          <a:noFill/>
        </p:spPr>
        <p:txBody>
          <a:bodyPr wrap="square" anchor="t" lIns="45720" rIns="45720">
            <a:spAutoFit/>
          </a:bodyPr>
          <a:lstStyle/>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+12 F1 </a:t>
            </a:r>
            <a:r>
              <a:rPr sz="1600" b="0" i="0">
                <a:solidFill>
                  <a:srgbClr val="1F2433"/>
                </a:solidFill>
                <a:latin typeface="Segoe UI"/>
                <a:cs typeface="Nirmala UI"/>
                <a:ea typeface="Nirmala UI"/>
              </a:rPr>
              <a:t>over the base-paper-style head with the same encoder</a:t>
            </a:r>
          </a:p>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Beats IndicNER </a:t>
            </a:r>
            <a:r>
              <a:rPr sz="1600" b="0" i="0">
                <a:solidFill>
                  <a:srgbClr val="1F2433"/>
                </a:solidFill>
                <a:latin typeface="Segoe UI"/>
                <a:cs typeface="Nirmala UI"/>
                <a:ea typeface="Nirmala UI"/>
              </a:rPr>
              <a:t>on the same benchmark with 7% of the data</a:t>
            </a:r>
          </a:p>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No morphological analyser: </a:t>
            </a:r>
            <a:r>
              <a:rPr sz="1600" b="0" i="0">
                <a:solidFill>
                  <a:srgbClr val="1F2433"/>
                </a:solidFill>
                <a:latin typeface="Segoe UI"/>
                <a:cs typeface="Nirmala UI"/>
                <a:ea typeface="Nirmala UI"/>
              </a:rPr>
              <a:t>agglutination handled by subwords</a:t>
            </a:r>
          </a:p>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Strict, reproducible evaluation </a:t>
            </a:r>
            <a:r>
              <a:rPr sz="1600" b="0" i="0">
                <a:solidFill>
                  <a:srgbClr val="1F2433"/>
                </a:solidFill>
                <a:latin typeface="Segoe UI"/>
                <a:cs typeface="Nirmala UI"/>
                <a:ea typeface="Nirmala UI"/>
              </a:rPr>
              <a:t>(compare_models.py → eval_results.json)</a:t>
            </a:r>
          </a:p>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Deployable: </a:t>
            </a:r>
            <a:r>
              <a:rPr sz="1600" b="0" i="0">
                <a:solidFill>
                  <a:srgbClr val="1F2433"/>
                </a:solidFill>
                <a:latin typeface="Segoe UI"/>
                <a:cs typeface="Nirmala UI"/>
                <a:ea typeface="Nirmala UI"/>
              </a:rPr>
              <a:t>web app + REST API</a:t>
            </a:r>
          </a:p>
        </p:txBody>
      </p:sp>
      <p:sp>
        <p:nvSpPr>
          <p:cNvPr id="12" name="Rounded Rectangle 11"/>
          <p:cNvSpPr/>
          <p:nvPr/>
        </p:nvSpPr>
        <p:spPr>
          <a:xfrm>
            <a:off x="6126480" y="1325880"/>
            <a:ext cx="5559552" cy="493776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463039"/>
            <a:ext cx="5102352" cy="411480"/>
          </a:xfrm>
          <a:prstGeom prst="rect">
            <a:avLst/>
          </a:prstGeom>
          <a:noFill/>
        </p:spPr>
        <p:txBody>
          <a:bodyPr wrap="square" anchor="t" lIns="45720" rIns="45720">
            <a:spAutoFit/>
          </a:bodyPr>
          <a:lstStyle/>
          <a:p>
            <a:pPr algn="l">
              <a:lnSpc>
                <a:spcPct val="110000"/>
              </a:lnSpc>
            </a:pPr>
            <a:r>
              <a:rPr sz="1700" b="1" i="0">
                <a:solidFill>
                  <a:srgbClr val="B91C1C"/>
                </a:solidFill>
                <a:latin typeface="Segoe UI"/>
                <a:cs typeface="Nirmala UI"/>
                <a:ea typeface="Nirmala UI"/>
              </a:rPr>
              <a:t>Limitations</a:t>
            </a:r>
          </a:p>
        </p:txBody>
      </p:sp>
      <p:sp>
        <p:nvSpPr>
          <p:cNvPr id="14" name="TextBox 13"/>
          <p:cNvSpPr txBox="1"/>
          <p:nvPr/>
        </p:nvSpPr>
        <p:spPr>
          <a:xfrm>
            <a:off x="6355080" y="1828800"/>
            <a:ext cx="5166360" cy="4389120"/>
          </a:xfrm>
          <a:prstGeom prst="rect">
            <a:avLst/>
          </a:prstGeom>
          <a:noFill/>
        </p:spPr>
        <p:txBody>
          <a:bodyPr wrap="square" anchor="t" lIns="45720" rIns="45720">
            <a:spAutoFit/>
          </a:bodyPr>
          <a:lstStyle/>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50k of 716k sentences, one run, </a:t>
            </a:r>
            <a:r>
              <a:rPr sz="1600" b="0" i="0">
                <a:solidFill>
                  <a:srgbClr val="1F2433"/>
                </a:solidFill>
                <a:latin typeface="Segoe UI"/>
                <a:cs typeface="Nirmala UI"/>
                <a:ea typeface="Nirmala UI"/>
              </a:rPr>
              <a:t>no seed averaging or hyper-parameter search</a:t>
            </a:r>
          </a:p>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Decoder and class weighting changed together; </a:t>
            </a:r>
            <a:r>
              <a:rPr sz="1600" b="0" i="0">
                <a:solidFill>
                  <a:srgbClr val="1F2433"/>
                </a:solidFill>
                <a:latin typeface="Segoe UI"/>
                <a:cs typeface="Nirmala UI"/>
                <a:ea typeface="Nirmala UI"/>
              </a:rPr>
              <a:t>effects not separated</a:t>
            </a:r>
          </a:p>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CRF mask skips subwords, </a:t>
            </a:r>
            <a:r>
              <a:rPr sz="1600" b="0" i="0">
                <a:solidFill>
                  <a:srgbClr val="1F2433"/>
                </a:solidFill>
                <a:latin typeface="Segoe UI"/>
                <a:cs typeface="Nirmala UI"/>
                <a:ea typeface="Nirmala UI"/>
              </a:rPr>
              <a:t>but pytorch-crf expects a contiguous mask → 20 invalid transitions remain</a:t>
            </a:r>
          </a:p>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Noisy projected training labels, </a:t>
            </a:r>
            <a:r>
              <a:rPr sz="1600" b="0" i="0">
                <a:solidFill>
                  <a:srgbClr val="1F2433"/>
                </a:solidFill>
                <a:latin typeface="Segoe UI"/>
                <a:cs typeface="Nirmala UI"/>
                <a:ea typeface="Nirmala UI"/>
              </a:rPr>
              <a:t>hurting ORG boundaries</a:t>
            </a:r>
          </a:p>
          <a:p>
            <a:pPr algn="l">
              <a:lnSpc>
                <a:spcPct val="110000"/>
              </a:lnSpc>
              <a:spcAft>
                <a:spcPts val="18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Confidence scores not calibrated; </a:t>
            </a:r>
            <a:r>
              <a:rPr sz="1600" b="0" i="0">
                <a:solidFill>
                  <a:srgbClr val="1F2433"/>
                </a:solidFill>
                <a:latin typeface="Segoe UI"/>
                <a:cs typeface="Nirmala UI"/>
                <a:ea typeface="Nirmala UI"/>
              </a:rPr>
              <a:t>DATE/CARDINAL rules not evaluated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24128"/>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
            <a:ext cx="9144000" cy="274320"/>
          </a:xfrm>
          <a:prstGeom prst="rect">
            <a:avLst/>
          </a:prstGeom>
          <a:noFill/>
        </p:spPr>
        <p:txBody>
          <a:bodyPr wrap="square" anchor="t" lIns="45720" rIns="45720">
            <a:spAutoFit/>
          </a:bodyPr>
          <a:lstStyle/>
          <a:p>
            <a:pPr algn="l">
              <a:lnSpc>
                <a:spcPct val="110000"/>
              </a:lnSpc>
            </a:pPr>
            <a:r>
              <a:rPr sz="1100" b="1" i="0">
                <a:solidFill>
                  <a:srgbClr val="C9CEF2"/>
                </a:solidFill>
                <a:latin typeface="Segoe UI"/>
                <a:cs typeface="Nirmala UI"/>
                <a:ea typeface="Nirmala UI"/>
              </a:rPr>
              <a:t>WRAP-UP</a:t>
            </a:r>
          </a:p>
        </p:txBody>
      </p:sp>
      <p:sp>
        <p:nvSpPr>
          <p:cNvPr id="5" name="TextBox 4"/>
          <p:cNvSpPr txBox="1"/>
          <p:nvPr/>
        </p:nvSpPr>
        <p:spPr>
          <a:xfrm>
            <a:off x="502920" y="347472"/>
            <a:ext cx="10058400" cy="594360"/>
          </a:xfrm>
          <a:prstGeom prst="rect">
            <a:avLst/>
          </a:prstGeom>
          <a:noFill/>
        </p:spPr>
        <p:txBody>
          <a:bodyPr wrap="square" anchor="t" lIns="45720" rIns="45720">
            <a:spAutoFit/>
          </a:bodyPr>
          <a:lstStyle/>
          <a:p>
            <a:pPr algn="l">
              <a:lnSpc>
                <a:spcPct val="110000"/>
              </a:lnSpc>
            </a:pPr>
            <a:r>
              <a:rPr sz="2800" b="1" i="0">
                <a:solidFill>
                  <a:srgbClr val="FFFFFF"/>
                </a:solidFill>
                <a:latin typeface="Segoe UI"/>
                <a:cs typeface="Nirmala UI"/>
                <a:ea typeface="Nirmala UI"/>
              </a:rPr>
              <a:t>Future work and conclusion</a:t>
            </a:r>
          </a:p>
        </p:txBody>
      </p:sp>
      <p:sp>
        <p:nvSpPr>
          <p:cNvPr id="6" name="TextBox 5"/>
          <p:cNvSpPr txBox="1"/>
          <p:nvPr/>
        </p:nvSpPr>
        <p:spPr>
          <a:xfrm>
            <a:off x="10911535" y="274320"/>
            <a:ext cx="822960" cy="457200"/>
          </a:xfrm>
          <a:prstGeom prst="rect">
            <a:avLst/>
          </a:prstGeom>
          <a:noFill/>
        </p:spPr>
        <p:txBody>
          <a:bodyPr wrap="square" anchor="t" lIns="45720" rIns="45720">
            <a:spAutoFit/>
          </a:bodyPr>
          <a:lstStyle/>
          <a:p>
            <a:pPr algn="r">
              <a:lnSpc>
                <a:spcPct val="110000"/>
              </a:lnSpc>
            </a:pPr>
            <a:r>
              <a:rPr sz="2000" b="1" i="0">
                <a:solidFill>
                  <a:srgbClr val="C9CEF2"/>
                </a:solidFill>
                <a:latin typeface="Segoe UI"/>
                <a:cs typeface="Nirmala UI"/>
                <a:ea typeface="Nirmala UI"/>
              </a:rPr>
              <a:t>16</a:t>
            </a:r>
          </a:p>
        </p:txBody>
      </p:sp>
      <p:sp>
        <p:nvSpPr>
          <p:cNvPr id="7" name="TextBox 6"/>
          <p:cNvSpPr txBox="1"/>
          <p:nvPr/>
        </p:nvSpPr>
        <p:spPr>
          <a:xfrm>
            <a:off x="502920" y="6473952"/>
            <a:ext cx="7315200" cy="274320"/>
          </a:xfrm>
          <a:prstGeom prst="rect">
            <a:avLst/>
          </a:prstGeom>
          <a:noFill/>
        </p:spPr>
        <p:txBody>
          <a:bodyPr wrap="square" anchor="t" lIns="45720" rIns="45720">
            <a:spAutoFit/>
          </a:bodyPr>
          <a:lstStyle/>
          <a:p>
            <a:pPr algn="l">
              <a:lnSpc>
                <a:spcPct val="110000"/>
              </a:lnSpc>
            </a:pPr>
            <a:r>
              <a:rPr sz="900" b="0" i="0">
                <a:solidFill>
                  <a:srgbClr val="9AA0B4"/>
                </a:solidFill>
                <a:latin typeface="Segoe UI"/>
                <a:cs typeface="Nirmala UI"/>
                <a:ea typeface="Nirmala UI"/>
              </a:rPr>
              <a:t>Malayalam NER using IndicBERTv2 + CRF  |  Final Evaluation</a:t>
            </a:r>
          </a:p>
        </p:txBody>
      </p:sp>
      <p:sp>
        <p:nvSpPr>
          <p:cNvPr id="8" name="TextBox 7"/>
          <p:cNvSpPr txBox="1"/>
          <p:nvPr/>
        </p:nvSpPr>
        <p:spPr>
          <a:xfrm>
            <a:off x="10911535" y="6473952"/>
            <a:ext cx="822960" cy="274320"/>
          </a:xfrm>
          <a:prstGeom prst="rect">
            <a:avLst/>
          </a:prstGeom>
          <a:noFill/>
        </p:spPr>
        <p:txBody>
          <a:bodyPr wrap="square" anchor="t" lIns="45720" rIns="45720">
            <a:spAutoFit/>
          </a:bodyPr>
          <a:lstStyle/>
          <a:p>
            <a:pPr algn="r">
              <a:lnSpc>
                <a:spcPct val="110000"/>
              </a:lnSpc>
            </a:pPr>
            <a:r>
              <a:rPr sz="900" b="0" i="0">
                <a:solidFill>
                  <a:srgbClr val="9AA0B4"/>
                </a:solidFill>
                <a:latin typeface="Segoe UI"/>
                <a:cs typeface="Nirmala UI"/>
                <a:ea typeface="Nirmala UI"/>
              </a:rPr>
              <a:t>16</a:t>
            </a:r>
          </a:p>
        </p:txBody>
      </p:sp>
      <p:sp>
        <p:nvSpPr>
          <p:cNvPr id="9" name="Rounded Rectangle 8"/>
          <p:cNvSpPr/>
          <p:nvPr/>
        </p:nvSpPr>
        <p:spPr>
          <a:xfrm>
            <a:off x="502920" y="1325880"/>
            <a:ext cx="5486400" cy="4937760"/>
          </a:xfrm>
          <a:prstGeom prst="roundRect">
            <a:avLst>
              <a:gd name="adj" fmla="val 4000"/>
            </a:avLst>
          </a:prstGeom>
          <a:solidFill>
            <a:srgbClr val="F4F5FB"/>
          </a:solidFill>
          <a:ln w="12700">
            <a:solidFill>
              <a:srgbClr val="E2E4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463039"/>
            <a:ext cx="5029200" cy="411480"/>
          </a:xfrm>
          <a:prstGeom prst="rect">
            <a:avLst/>
          </a:prstGeom>
          <a:noFill/>
        </p:spPr>
        <p:txBody>
          <a:bodyPr wrap="square" anchor="t" lIns="45720" rIns="45720">
            <a:spAutoFit/>
          </a:bodyPr>
          <a:lstStyle/>
          <a:p>
            <a:pPr algn="l">
              <a:lnSpc>
                <a:spcPct val="110000"/>
              </a:lnSpc>
            </a:pPr>
            <a:r>
              <a:rPr sz="1700" b="1" i="0">
                <a:solidFill>
                  <a:srgbClr val="3F51B5"/>
                </a:solidFill>
                <a:latin typeface="Segoe UI"/>
                <a:cs typeface="Nirmala UI"/>
                <a:ea typeface="Nirmala UI"/>
              </a:rPr>
              <a:t>Future work</a:t>
            </a:r>
          </a:p>
        </p:txBody>
      </p:sp>
      <p:sp>
        <p:nvSpPr>
          <p:cNvPr id="11" name="TextBox 10"/>
          <p:cNvSpPr txBox="1"/>
          <p:nvPr/>
        </p:nvSpPr>
        <p:spPr>
          <a:xfrm>
            <a:off x="731520" y="1828800"/>
            <a:ext cx="5120640" cy="4389120"/>
          </a:xfrm>
          <a:prstGeom prst="rect">
            <a:avLst/>
          </a:prstGeom>
          <a:noFill/>
        </p:spPr>
        <p:txBody>
          <a:bodyPr wrap="square" anchor="t" lIns="45720" rIns="45720">
            <a:spAutoFit/>
          </a:bodyPr>
          <a:lstStyle/>
          <a:p>
            <a:pPr algn="l">
              <a:lnSpc>
                <a:spcPct val="110000"/>
              </a:lnSpc>
              <a:spcAft>
                <a:spcPts val="17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Word-level CRF </a:t>
            </a:r>
            <a:r>
              <a:rPr sz="1600" b="0" i="0">
                <a:solidFill>
                  <a:srgbClr val="1F2433"/>
                </a:solidFill>
                <a:latin typeface="Segoe UI"/>
                <a:cs typeface="Nirmala UI"/>
                <a:ea typeface="Nirmala UI"/>
              </a:rPr>
              <a:t>with hard IOB2 constraints (always-valid output)</a:t>
            </a:r>
          </a:p>
          <a:p>
            <a:pPr algn="l">
              <a:lnSpc>
                <a:spcPct val="110000"/>
              </a:lnSpc>
              <a:spcAft>
                <a:spcPts val="17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2×2 ablation over seeds: </a:t>
            </a:r>
            <a:r>
              <a:rPr sz="1600" b="0" i="0">
                <a:solidFill>
                  <a:srgbClr val="1F2433"/>
                </a:solidFill>
                <a:latin typeface="Segoe UI"/>
                <a:cs typeface="Nirmala UI"/>
                <a:ea typeface="Nirmala UI"/>
              </a:rPr>
              <a:t>{softmax, CRF} × {weights, none}</a:t>
            </a:r>
          </a:p>
          <a:p>
            <a:pPr algn="l">
              <a:lnSpc>
                <a:spcPct val="110000"/>
              </a:lnSpc>
              <a:spcAft>
                <a:spcPts val="17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Encoder comparison: </a:t>
            </a:r>
            <a:r>
              <a:rPr sz="1600" b="0" i="0">
                <a:solidFill>
                  <a:srgbClr val="1F2433"/>
                </a:solidFill>
                <a:latin typeface="Segoe UI"/>
                <a:cs typeface="Nirmala UI"/>
                <a:ea typeface="Nirmala UI"/>
              </a:rPr>
              <a:t>mBERT, MuRIL, XLM-R, IndicBERTv2</a:t>
            </a:r>
          </a:p>
          <a:p>
            <a:pPr algn="l">
              <a:lnSpc>
                <a:spcPct val="110000"/>
              </a:lnSpc>
              <a:spcAft>
                <a:spcPts val="17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Full 716k training set; </a:t>
            </a:r>
            <a:r>
              <a:rPr sz="1600" b="0" i="0">
                <a:solidFill>
                  <a:srgbClr val="1F2433"/>
                </a:solidFill>
                <a:latin typeface="Segoe UI"/>
                <a:cs typeface="Nirmala UI"/>
                <a:ea typeface="Nirmala UI"/>
              </a:rPr>
              <a:t>gazetteers for ORG</a:t>
            </a:r>
          </a:p>
          <a:p>
            <a:pPr algn="l">
              <a:lnSpc>
                <a:spcPct val="110000"/>
              </a:lnSpc>
              <a:spcAft>
                <a:spcPts val="17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ONNX + INT8 </a:t>
            </a:r>
            <a:r>
              <a:rPr sz="1600" b="0" i="0">
                <a:solidFill>
                  <a:srgbClr val="1F2433"/>
                </a:solidFill>
                <a:latin typeface="Segoe UI"/>
                <a:cs typeface="Nirmala UI"/>
                <a:ea typeface="Nirmala UI"/>
              </a:rPr>
              <a:t>for fast CPU deployment</a:t>
            </a:r>
          </a:p>
          <a:p>
            <a:pPr algn="l">
              <a:lnSpc>
                <a:spcPct val="110000"/>
              </a:lnSpc>
              <a:spcAft>
                <a:spcPts val="1700"/>
              </a:spcAft>
            </a:pPr>
            <a:r>
              <a:rPr sz="1600" b="1" i="0">
                <a:solidFill>
                  <a:srgbClr val="3F51B5"/>
                </a:solidFill>
                <a:latin typeface="Segoe UI"/>
                <a:cs typeface="Nirmala UI"/>
                <a:ea typeface="Nirmala UI"/>
              </a:rPr>
              <a:t>•  </a:t>
            </a:r>
            <a:r>
              <a:rPr sz="1600" b="1" i="0">
                <a:solidFill>
                  <a:srgbClr val="3F51B5"/>
                </a:solidFill>
                <a:latin typeface="Segoe UI"/>
                <a:cs typeface="Nirmala UI"/>
                <a:ea typeface="Nirmala UI"/>
              </a:rPr>
              <a:t>PDF/DOCX highlighting, </a:t>
            </a:r>
            <a:r>
              <a:rPr sz="1600" b="0" i="0">
                <a:solidFill>
                  <a:srgbClr val="1F2433"/>
                </a:solidFill>
                <a:latin typeface="Segoe UI"/>
                <a:cs typeface="Nirmala UI"/>
                <a:ea typeface="Nirmala UI"/>
              </a:rPr>
              <a:t>entity linking to Malayalam Wikipedia</a:t>
            </a:r>
          </a:p>
        </p:txBody>
      </p:sp>
      <p:sp>
        <p:nvSpPr>
          <p:cNvPr id="12" name="Rounded Rectangle 11"/>
          <p:cNvSpPr/>
          <p:nvPr/>
        </p:nvSpPr>
        <p:spPr>
          <a:xfrm>
            <a:off x="6217920" y="1325880"/>
            <a:ext cx="5468112" cy="4937760"/>
          </a:xfrm>
          <a:prstGeom prst="roundRect">
            <a:avLst>
              <a:gd name="adj" fmla="val 4000"/>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937760" cy="457200"/>
          </a:xfrm>
          <a:prstGeom prst="rect">
            <a:avLst/>
          </a:prstGeom>
          <a:noFill/>
        </p:spPr>
        <p:txBody>
          <a:bodyPr wrap="square" anchor="t" lIns="45720" rIns="45720">
            <a:spAutoFit/>
          </a:bodyPr>
          <a:lstStyle/>
          <a:p>
            <a:pPr algn="l">
              <a:lnSpc>
                <a:spcPct val="110000"/>
              </a:lnSpc>
            </a:pPr>
            <a:r>
              <a:rPr sz="1800" b="1" i="0">
                <a:solidFill>
                  <a:srgbClr val="FFFFFF"/>
                </a:solidFill>
                <a:latin typeface="Segoe UI"/>
                <a:cs typeface="Nirmala UI"/>
                <a:ea typeface="Nirmala UI"/>
              </a:rPr>
              <a:t>Conclusion</a:t>
            </a:r>
          </a:p>
        </p:txBody>
      </p:sp>
      <p:sp>
        <p:nvSpPr>
          <p:cNvPr id="14" name="TextBox 13"/>
          <p:cNvSpPr txBox="1"/>
          <p:nvPr/>
        </p:nvSpPr>
        <p:spPr>
          <a:xfrm>
            <a:off x="6492240" y="2057400"/>
            <a:ext cx="4983480" cy="4114800"/>
          </a:xfrm>
          <a:prstGeom prst="rect">
            <a:avLst/>
          </a:prstGeom>
          <a:noFill/>
        </p:spPr>
        <p:txBody>
          <a:bodyPr wrap="square" anchor="t" lIns="45720" rIns="45720">
            <a:spAutoFit/>
          </a:bodyPr>
          <a:lstStyle/>
          <a:p>
            <a:pPr algn="l">
              <a:lnSpc>
                <a:spcPct val="110000"/>
              </a:lnSpc>
              <a:spcAft>
                <a:spcPts val="1200"/>
              </a:spcAft>
            </a:pPr>
            <a:r>
              <a:rPr sz="1600" b="0" i="0">
                <a:solidFill>
                  <a:srgbClr val="E4E7FB"/>
                </a:solidFill>
                <a:latin typeface="Segoe UI"/>
                <a:cs typeface="Nirmala UI"/>
                <a:ea typeface="Nirmala UI"/>
              </a:rPr>
              <a:t>Fine-tuned IndicBERTv2 with first-subword alignment and a CRF decoder reaches </a:t>
            </a:r>
            <a:r>
              <a:rPr sz="1600" b="1" i="0">
                <a:solidFill>
                  <a:srgbClr val="FFFFFF"/>
                </a:solidFill>
                <a:latin typeface="Segoe UI"/>
                <a:cs typeface="Nirmala UI"/>
                <a:ea typeface="Nirmala UI"/>
              </a:rPr>
              <a:t>84.25 strict F1</a:t>
            </a:r>
            <a:r>
              <a:rPr sz="1600" b="0" i="0">
                <a:solidFill>
                  <a:srgbClr val="E4E7FB"/>
                </a:solidFill>
                <a:latin typeface="Segoe UI"/>
                <a:cs typeface="Nirmala UI"/>
                <a:ea typeface="Nirmala UI"/>
              </a:rPr>
              <a:t> on Malayalam NER.</a:t>
            </a:r>
          </a:p>
          <a:p>
            <a:pPr algn="l">
              <a:lnSpc>
                <a:spcPct val="110000"/>
              </a:lnSpc>
              <a:spcAft>
                <a:spcPts val="1200"/>
              </a:spcAft>
            </a:pPr>
            <a:r>
              <a:rPr sz="1600" b="0" i="0">
                <a:solidFill>
                  <a:srgbClr val="E4E7FB"/>
                </a:solidFill>
                <a:latin typeface="Segoe UI"/>
                <a:cs typeface="Nirmala UI"/>
                <a:ea typeface="Nirmala UI"/>
              </a:rPr>
              <a:t>Modelling tag transitions gives +12 F1 over independent softmax and removes 80% of invalid sequences.</a:t>
            </a:r>
          </a:p>
          <a:p>
            <a:pPr algn="l">
              <a:lnSpc>
                <a:spcPct val="110000"/>
              </a:lnSpc>
              <a:spcAft>
                <a:spcPts val="1200"/>
              </a:spcAft>
            </a:pPr>
            <a:r>
              <a:rPr sz="1600" b="0" i="0">
                <a:solidFill>
                  <a:srgbClr val="E4E7FB"/>
                </a:solidFill>
                <a:latin typeface="Segoe UI"/>
                <a:cs typeface="Nirmala UI"/>
                <a:ea typeface="Nirmala UI"/>
              </a:rPr>
              <a:t>Multi-word organization names remain the main open problem.</a:t>
            </a:r>
          </a:p>
          <a:p>
            <a:pPr algn="l">
              <a:lnSpc>
                <a:spcPct val="110000"/>
              </a:lnSpc>
            </a:pPr>
            <a:r>
              <a:rPr sz="1600" b="0" i="0">
                <a:solidFill>
                  <a:srgbClr val="E4E7FB"/>
                </a:solidFill>
                <a:latin typeface="Segoe UI"/>
                <a:cs typeface="Nirmala UI"/>
                <a:ea typeface="Nirmala UI"/>
              </a:rPr>
              <a:t>Packaged as a web app and REST API, it brings practical information extraction to Malayalam on modest hardware.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F5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1097280"/>
          </a:xfrm>
          <a:prstGeom prst="rect">
            <a:avLst/>
          </a:prstGeom>
          <a:solidFill>
            <a:srgbClr val="2E3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733288"/>
            <a:ext cx="12191695"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0515600" cy="1097280"/>
          </a:xfrm>
          <a:prstGeom prst="rect">
            <a:avLst/>
          </a:prstGeom>
          <a:noFill/>
        </p:spPr>
        <p:txBody>
          <a:bodyPr wrap="square" anchor="t" lIns="45720" rIns="45720">
            <a:spAutoFit/>
          </a:bodyPr>
          <a:lstStyle/>
          <a:p>
            <a:pPr algn="l">
              <a:lnSpc>
                <a:spcPct val="110000"/>
              </a:lnSpc>
            </a:pPr>
            <a:r>
              <a:rPr sz="5400" b="1" i="0">
                <a:solidFill>
                  <a:srgbClr val="FFFFFF"/>
                </a:solidFill>
                <a:latin typeface="Segoe UI"/>
                <a:cs typeface="Nirmala UI"/>
                <a:ea typeface="Nirmala UI"/>
              </a:rPr>
              <a:t>Thank you</a:t>
            </a:r>
          </a:p>
          <a:p>
            <a:pPr algn="l">
              <a:lnSpc>
                <a:spcPct val="110000"/>
              </a:lnSpc>
            </a:pPr>
            <a:r>
              <a:rPr sz="4000" b="1" i="0">
                <a:solidFill>
                  <a:srgbClr val="DDE1FA"/>
                </a:solidFill>
                <a:latin typeface="Nirmala UI"/>
                <a:cs typeface="Nirmala UI"/>
                <a:ea typeface="Nirmala UI"/>
              </a:rPr>
              <a:t>നന്ദി</a:t>
            </a:r>
          </a:p>
        </p:txBody>
      </p:sp>
      <p:sp>
        <p:nvSpPr>
          <p:cNvPr id="6" name="TextBox 5"/>
          <p:cNvSpPr txBox="1"/>
          <p:nvPr/>
        </p:nvSpPr>
        <p:spPr>
          <a:xfrm>
            <a:off x="777240" y="3337560"/>
            <a:ext cx="10515600" cy="548640"/>
          </a:xfrm>
          <a:prstGeom prst="rect">
            <a:avLst/>
          </a:prstGeom>
          <a:noFill/>
        </p:spPr>
        <p:txBody>
          <a:bodyPr wrap="square" anchor="t" lIns="45720" rIns="45720">
            <a:spAutoFit/>
          </a:bodyPr>
          <a:lstStyle/>
          <a:p>
            <a:pPr algn="l">
              <a:lnSpc>
                <a:spcPct val="110000"/>
              </a:lnSpc>
            </a:pPr>
            <a:r>
              <a:rPr sz="1800" b="0" i="0">
                <a:solidFill>
                  <a:srgbClr val="E4E7FB"/>
                </a:solidFill>
                <a:latin typeface="Segoe UI"/>
                <a:cs typeface="Nirmala UI"/>
                <a:ea typeface="Nirmala UI"/>
              </a:rPr>
              <a:t>Questions welcome. Live demo: python app.py  →  http://127.0.0.1:7860</a:t>
            </a:r>
          </a:p>
        </p:txBody>
      </p:sp>
      <p:sp>
        <p:nvSpPr>
          <p:cNvPr id="7" name="TextBox 6"/>
          <p:cNvSpPr txBox="1"/>
          <p:nvPr/>
        </p:nvSpPr>
        <p:spPr>
          <a:xfrm>
            <a:off x="777240" y="4069080"/>
            <a:ext cx="10789920" cy="1463040"/>
          </a:xfrm>
          <a:prstGeom prst="rect">
            <a:avLst/>
          </a:prstGeom>
          <a:noFill/>
        </p:spPr>
        <p:txBody>
          <a:bodyPr wrap="square" anchor="t" lIns="45720" rIns="45720">
            <a:spAutoFit/>
          </a:bodyPr>
          <a:lstStyle/>
          <a:p>
            <a:pPr algn="l">
              <a:lnSpc>
                <a:spcPct val="110000"/>
              </a:lnSpc>
            </a:pPr>
            <a:r>
              <a:rPr sz="1200" b="1" i="0">
                <a:solidFill>
                  <a:srgbClr val="C9CEF2"/>
                </a:solidFill>
                <a:latin typeface="Segoe UI"/>
                <a:cs typeface="Nirmala UI"/>
                <a:ea typeface="Nirmala UI"/>
              </a:rPr>
              <a:t>Key references: </a:t>
            </a:r>
            <a:r>
              <a:rPr sz="1200" b="0" i="0">
                <a:solidFill>
                  <a:srgbClr val="C9CEF2"/>
                </a:solidFill>
                <a:latin typeface="Segoe UI"/>
                <a:cs typeface="Nirmala UI"/>
                <a:ea typeface="Nirmala UI"/>
              </a:rPr>
              <a:t>Bharathi Mohan et al., EASCT 2023 (base paper) · Mhaske et al., Naamapadam, ACL 2023 · Doddapaneni et al., IndicBERTv2, ACL 2023 · Devlin et al., BERT, NAACL 2019 · Lafferty et al., CRF, ICML 2001 · Khanuja et al., MuRIL, 2021 · Lakshmi et al., Fuzzy SVM, ICIS 2016 · Gopalakrishnan et al., IJIT 2025</a:t>
            </a:r>
          </a:p>
        </p:txBody>
      </p:sp>
      <p:sp>
        <p:nvSpPr>
          <p:cNvPr id="8" name="TextBox 7"/>
          <p:cNvSpPr txBox="1"/>
          <p:nvPr/>
        </p:nvSpPr>
        <p:spPr>
          <a:xfrm>
            <a:off x="777240" y="5989320"/>
            <a:ext cx="10058400" cy="457200"/>
          </a:xfrm>
          <a:prstGeom prst="rect">
            <a:avLst/>
          </a:prstGeom>
          <a:noFill/>
        </p:spPr>
        <p:txBody>
          <a:bodyPr wrap="square" anchor="t" lIns="45720" rIns="45720">
            <a:spAutoFit/>
          </a:bodyPr>
          <a:lstStyle/>
          <a:p>
            <a:pPr algn="l">
              <a:lnSpc>
                <a:spcPct val="110000"/>
              </a:lnSpc>
            </a:pPr>
            <a:r>
              <a:rPr sz="1300" b="0" i="0">
                <a:solidFill>
                  <a:srgbClr val="FFFFFF"/>
                </a:solidFill>
                <a:latin typeface="Segoe UI"/>
                <a:cs typeface="Nirmala UI"/>
                <a:ea typeface="Nirmala UI"/>
              </a:rPr>
              <a:t>Albin John  •  Adnan Soni  •  Aswin Paramesh S S   |   IIIT Kottayam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