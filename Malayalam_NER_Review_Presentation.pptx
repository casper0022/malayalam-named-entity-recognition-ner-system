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F51B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303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89320"/>
            <a:ext cx="12191695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C7D2FE"/>
                </a:solidFill>
                <a:latin typeface="Segoe UI"/>
              </a:rPr>
              <a:t>PROJECT REVIEW  •  NLP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105156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Segoe UI"/>
              </a:rPr>
              <a:t>Malayalam Named Entity</a:t>
            </a:r>
          </a:p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Segoe UI"/>
              </a:rPr>
              <a:t>Recognition using IndicBERTv2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52044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E3E6FB"/>
                </a:solidFill>
                <a:latin typeface="Segoe UI"/>
              </a:rPr>
              <a:t>A fine-tuned Transformer + CRF sequence-tagging system that identifies People, Organizations, Locations, Dates and Cardinal values in raw Malayalam text — served through a Gradio web app and a FastAPI microservice.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434840"/>
            <a:ext cx="822960" cy="384048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 Semibold"/>
              </a:rPr>
              <a:t>PER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10512" y="4434840"/>
            <a:ext cx="822960" cy="38404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 Semibold"/>
              </a:rPr>
              <a:t>ORG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98064" y="4434840"/>
            <a:ext cx="822960" cy="38404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 Semibold"/>
              </a:rPr>
              <a:t>LOC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85616" y="4434840"/>
            <a:ext cx="822960" cy="384048"/>
          </a:xfrm>
          <a:prstGeom prst="roundRect">
            <a:avLst>
              <a:gd name="adj" fmla="val 50000"/>
            </a:avLst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 Semibold"/>
              </a:rPr>
              <a:t>DATE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73168" y="4434840"/>
            <a:ext cx="1234440" cy="384048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 Semibold"/>
              </a:rPr>
              <a:t>CARDINAL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144768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C7D2FE"/>
                </a:solidFill>
                <a:latin typeface="Segoe UI"/>
              </a:rPr>
              <a:t>ai4bharat/IndicBERTv2-MLM-only  +  CRF Decoder  +  Inverse Class Weighting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6144768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 i="0">
                <a:solidFill>
                  <a:srgbClr val="C7D2FE"/>
                </a:solidFill>
                <a:latin typeface="Segoe UI"/>
              </a:rPr>
              <a:t>Semester 7 • NLP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C7D2FE"/>
                </a:solidFill>
                <a:latin typeface="Segoe UI Semibold"/>
              </a:rPr>
              <a:t>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02336"/>
            <a:ext cx="105156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Segoe UI"/>
              </a:rPr>
              <a:t>Dataset &amp; Challenges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384048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C7D2FE"/>
                </a:solidFill>
                <a:latin typeface="Segoe UI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98448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3F51B5"/>
                </a:solidFill>
                <a:latin typeface="Segoe UI"/>
              </a:rPr>
              <a:t>Dataset Composition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91640"/>
            <a:ext cx="2331720" cy="1051560"/>
          </a:xfrm>
          <a:prstGeom prst="roundRect">
            <a:avLst>
              <a:gd name="adj" fmla="val 10000"/>
            </a:avLst>
          </a:prstGeom>
          <a:solidFill>
            <a:srgbClr val="F7F8FC"/>
          </a:solidFill>
          <a:ln w="12700">
            <a:solidFill>
              <a:srgbClr val="E3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691640"/>
            <a:ext cx="50800" cy="105156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1801368"/>
            <a:ext cx="2057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B82F6"/>
                </a:solidFill>
                <a:latin typeface="Segoe UI"/>
              </a:rPr>
              <a:t>716,652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2359152"/>
            <a:ext cx="2057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B6072"/>
                </a:solidFill>
                <a:latin typeface="Segoe UI"/>
              </a:rPr>
              <a:t>Training sentences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71800" y="1691640"/>
            <a:ext cx="2331720" cy="1051560"/>
          </a:xfrm>
          <a:prstGeom prst="roundRect">
            <a:avLst>
              <a:gd name="adj" fmla="val 10000"/>
            </a:avLst>
          </a:prstGeom>
          <a:solidFill>
            <a:srgbClr val="F7F8FC"/>
          </a:solidFill>
          <a:ln w="12700">
            <a:solidFill>
              <a:srgbClr val="E3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71800" y="1691640"/>
            <a:ext cx="50800" cy="10515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36392" y="1801368"/>
            <a:ext cx="2057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0B981"/>
                </a:solidFill>
                <a:latin typeface="Segoe UI"/>
              </a:rPr>
              <a:t>3,618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36392" y="2359152"/>
            <a:ext cx="2057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B6072"/>
                </a:solidFill>
                <a:latin typeface="Segoe UI"/>
              </a:rPr>
              <a:t>Validation sentences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880360"/>
            <a:ext cx="2331720" cy="1051560"/>
          </a:xfrm>
          <a:prstGeom prst="roundRect">
            <a:avLst>
              <a:gd name="adj" fmla="val 10000"/>
            </a:avLst>
          </a:prstGeom>
          <a:solidFill>
            <a:srgbClr val="F7F8FC"/>
          </a:solidFill>
          <a:ln w="12700">
            <a:solidFill>
              <a:srgbClr val="E3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2880360"/>
            <a:ext cx="50800" cy="10515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" y="2990088"/>
            <a:ext cx="2057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59E0B"/>
                </a:solidFill>
                <a:latin typeface="Segoe UI"/>
              </a:rPr>
              <a:t>974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" y="3547872"/>
            <a:ext cx="2057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B6072"/>
                </a:solidFill>
                <a:latin typeface="Segoe UI"/>
              </a:rPr>
              <a:t>Held-out test sentences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971800" y="2880360"/>
            <a:ext cx="2331720" cy="1051560"/>
          </a:xfrm>
          <a:prstGeom prst="roundRect">
            <a:avLst>
              <a:gd name="adj" fmla="val 10000"/>
            </a:avLst>
          </a:prstGeom>
          <a:solidFill>
            <a:srgbClr val="F7F8FC"/>
          </a:solidFill>
          <a:ln w="12700">
            <a:solidFill>
              <a:srgbClr val="E3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971800" y="2880360"/>
            <a:ext cx="50800" cy="105156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36392" y="2990088"/>
            <a:ext cx="2057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EC4899"/>
                </a:solidFill>
                <a:latin typeface="Segoe UI"/>
              </a:rPr>
              <a:t>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36392" y="3547872"/>
            <a:ext cx="2057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B6072"/>
                </a:solidFill>
                <a:latin typeface="Segoe UI"/>
              </a:rPr>
              <a:t>IOB2 tag classes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160520"/>
            <a:ext cx="51206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b="1" sz="1500">
                <a:solidFill>
                  <a:srgbClr val="3F51B5"/>
                </a:solidFill>
                <a:latin typeface="Segoe UI"/>
              </a:rPr>
              <a:t>•  Tag scheme: </a:t>
            </a:r>
            <a:r>
              <a:rPr sz="1500">
                <a:solidFill>
                  <a:srgbClr val="333645"/>
                </a:solidFill>
                <a:latin typeface="Segoe UI"/>
              </a:rPr>
              <a:t>O, B-PER/I-PER, B-ORG/I-ORG, B-LOC/I-LOC (IOB2)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b="1" sz="1500">
                <a:solidFill>
                  <a:srgbClr val="3F51B5"/>
                </a:solidFill>
                <a:latin typeface="Segoe UI"/>
              </a:rPr>
              <a:t>•  Class imbalance: </a:t>
            </a:r>
            <a:r>
              <a:rPr sz="1500">
                <a:solidFill>
                  <a:srgbClr val="333645"/>
                </a:solidFill>
                <a:latin typeface="Segoe UI"/>
              </a:rPr>
              <a:t>the ‘O’ tag covers ~71% of tokens — addressed with inverse class weighting (Slide 3)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b="1" sz="1500">
                <a:solidFill>
                  <a:srgbClr val="3F51B5"/>
                </a:solidFill>
                <a:latin typeface="Segoe UI"/>
              </a:rPr>
              <a:t>•  Train subset: </a:t>
            </a:r>
            <a:r>
              <a:rPr sz="1500">
                <a:solidFill>
                  <a:srgbClr val="333645"/>
                </a:solidFill>
                <a:latin typeface="Segoe UI"/>
              </a:rPr>
              <a:t>50,000 sentences sampled for fast convergence on available GPU (RTX-class, fp16)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1298448"/>
            <a:ext cx="5440680" cy="4937760"/>
          </a:xfrm>
          <a:prstGeom prst="roundRect">
            <a:avLst>
              <a:gd name="adj" fmla="val 5000"/>
            </a:avLst>
          </a:prstGeom>
          <a:solidFill>
            <a:srgbClr val="F7F8FC"/>
          </a:solidFill>
          <a:ln w="12700">
            <a:solidFill>
              <a:srgbClr val="E3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60" y="1481328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3F51B5"/>
                </a:solidFill>
                <a:latin typeface="Segoe UI"/>
              </a:rPr>
              <a:t>Core Challenge: Malayalam Agglutination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1965960"/>
            <a:ext cx="49377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5B6072"/>
                </a:solidFill>
                <a:latin typeface="Segoe UI"/>
              </a:rPr>
              <a:t>Malayalam words fuse multiple morphemes into one token (e.g. തിരുവനന്തപുരത്ത് → ‘Thiruvananthapuram + locative’). A subword tokenizer therefore splits one word into several WordPiece units, breaking the 1:1 word↔label mapping.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342900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333645"/>
                </a:solidFill>
                <a:latin typeface="Segoe UI"/>
              </a:rPr>
              <a:t>Our Solution: Subword-Aware Masking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3840480"/>
            <a:ext cx="4937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b="1" sz="1400">
                <a:solidFill>
                  <a:srgbClr val="3F51B5"/>
                </a:solidFill>
                <a:latin typeface="Segoe UI"/>
              </a:rPr>
              <a:t>•  Fast tokenizer word_ids(): </a:t>
            </a:r>
            <a:r>
              <a:rPr sz="1400">
                <a:solidFill>
                  <a:srgbClr val="333645"/>
                </a:solidFill>
                <a:latin typeface="Segoe UI"/>
              </a:rPr>
              <a:t>map each subword back to its source word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b="1" sz="1400">
                <a:solidFill>
                  <a:srgbClr val="3F51B5"/>
                </a:solidFill>
                <a:latin typeface="Segoe UI"/>
              </a:rPr>
              <a:t>•  First subword </a:t>
            </a:r>
            <a:r>
              <a:rPr sz="1400">
                <a:solidFill>
                  <a:srgbClr val="333645"/>
                </a:solidFill>
                <a:latin typeface="Segoe UI"/>
              </a:rPr>
              <a:t>of a word receives the real IOB2 label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b="1" sz="1400">
                <a:solidFill>
                  <a:srgbClr val="3F51B5"/>
                </a:solidFill>
                <a:latin typeface="Segoe UI"/>
              </a:rPr>
              <a:t>•  Remaining subwords </a:t>
            </a:r>
            <a:r>
              <a:rPr sz="1400">
                <a:solidFill>
                  <a:srgbClr val="333645"/>
                </a:solidFill>
                <a:latin typeface="Segoe UI"/>
              </a:rPr>
              <a:t>get label −100, excluded from the loss automatically by PyTorch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b="1" sz="1400">
                <a:solidFill>
                  <a:srgbClr val="3F51B5"/>
                </a:solidFill>
                <a:latin typeface="Segoe UI"/>
              </a:rPr>
              <a:t>•  Result: </a:t>
            </a:r>
            <a:r>
              <a:rPr sz="1400">
                <a:solidFill>
                  <a:srgbClr val="333645"/>
                </a:solidFill>
                <a:latin typeface="Segoe UI"/>
              </a:rPr>
              <a:t>clean gradient signal even though input/label lengths differ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A0A5B5"/>
                </a:solidFill>
                <a:latin typeface="Segoe UI"/>
              </a:rPr>
              <a:t>Malayalam NER using IndicBERTv2  |  Project Review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652881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A0A5B5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C7D2FE"/>
                </a:solidFill>
                <a:latin typeface="Segoe UI Semibold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02336"/>
            <a:ext cx="105156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Segoe UI"/>
              </a:rPr>
              <a:t>Methodology &amp;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384048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C7D2FE"/>
                </a:solidFill>
                <a:latin typeface="Segoe UI"/>
              </a:rPr>
              <a:t>03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61872"/>
            <a:ext cx="6949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3F51B5"/>
                </a:solidFill>
                <a:latin typeface="Segoe UI"/>
              </a:rPr>
              <a:t>Pipeline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91640"/>
            <a:ext cx="1417320" cy="868680"/>
          </a:xfrm>
          <a:prstGeom prst="roundRect">
            <a:avLst>
              <a:gd name="adj" fmla="val 14000"/>
            </a:avLst>
          </a:prstGeom>
          <a:solidFill>
            <a:srgbClr val="606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250" b="1">
                <a:solidFill>
                  <a:srgbClr val="FFFFFF"/>
                </a:solidFill>
              </a:rPr>
              <a:t>Malayalam</a:t>
            </a:r>
          </a:p>
          <a:p>
            <a:pPr algn="ctr"/>
            <a:r>
              <a:rPr sz="1250" b="1">
                <a:solidFill>
                  <a:srgbClr val="FFFFFF"/>
                </a:solidFill>
              </a:rPr>
              <a:t>Raw Text</a:t>
            </a:r>
          </a:p>
        </p:txBody>
      </p:sp>
      <p:sp>
        <p:nvSpPr>
          <p:cNvPr id="9" name="Right Arrow 8"/>
          <p:cNvSpPr/>
          <p:nvPr/>
        </p:nvSpPr>
        <p:spPr>
          <a:xfrm>
            <a:off x="1930240" y="1984248"/>
            <a:ext cx="181168" cy="274320"/>
          </a:xfrm>
          <a:prstGeom prst="rightArrow">
            <a:avLst/>
          </a:prstGeom>
          <a:solidFill>
            <a:srgbClr val="C0C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121408" y="1691640"/>
            <a:ext cx="1417320" cy="868680"/>
          </a:xfrm>
          <a:prstGeom prst="roundRect">
            <a:avLst>
              <a:gd name="adj" fmla="val 14000"/>
            </a:avLst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250" b="1">
                <a:solidFill>
                  <a:srgbClr val="FFFFFF"/>
                </a:solidFill>
              </a:rPr>
              <a:t>IndicBERTv2 /</a:t>
            </a:r>
          </a:p>
          <a:p>
            <a:pPr algn="ctr"/>
            <a:r>
              <a:rPr sz="1250" b="1">
                <a:solidFill>
                  <a:srgbClr val="FFFFFF"/>
                </a:solidFill>
              </a:rPr>
              <a:t>MuRIL Encoder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548728" y="1984248"/>
            <a:ext cx="181168" cy="274320"/>
          </a:xfrm>
          <a:prstGeom prst="rightArrow">
            <a:avLst/>
          </a:prstGeom>
          <a:solidFill>
            <a:srgbClr val="C0C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739896" y="1691640"/>
            <a:ext cx="1417320" cy="868680"/>
          </a:xfrm>
          <a:prstGeom prst="roundRect">
            <a:avLst>
              <a:gd name="adj" fmla="val 14000"/>
            </a:avLst>
          </a:prstGeom>
          <a:solidFill>
            <a:srgbClr val="606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250" b="1">
                <a:solidFill>
                  <a:srgbClr val="FFFFFF"/>
                </a:solidFill>
              </a:rPr>
              <a:t>Linear</a:t>
            </a:r>
          </a:p>
          <a:p>
            <a:pPr algn="ctr"/>
            <a:r>
              <a:rPr sz="1250" b="1">
                <a:solidFill>
                  <a:srgbClr val="FFFFFF"/>
                </a:solidFill>
              </a:rPr>
              <a:t>Classifier Head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167216" y="1984248"/>
            <a:ext cx="181168" cy="274320"/>
          </a:xfrm>
          <a:prstGeom prst="rightArrow">
            <a:avLst/>
          </a:prstGeom>
          <a:solidFill>
            <a:srgbClr val="C0C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358384" y="1691640"/>
            <a:ext cx="1417320" cy="868680"/>
          </a:xfrm>
          <a:prstGeom prst="roundRect">
            <a:avLst>
              <a:gd name="adj" fmla="val 14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250" b="1">
                <a:solidFill>
                  <a:srgbClr val="FFFFFF"/>
                </a:solidFill>
              </a:rPr>
              <a:t>CRF</a:t>
            </a:r>
          </a:p>
          <a:p>
            <a:pPr algn="ctr"/>
            <a:r>
              <a:rPr sz="1250" b="1">
                <a:solidFill>
                  <a:srgbClr val="FFFFFF"/>
                </a:solidFill>
              </a:rPr>
              <a:t>Decoder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785704" y="1984248"/>
            <a:ext cx="181168" cy="274320"/>
          </a:xfrm>
          <a:prstGeom prst="rightArrow">
            <a:avLst/>
          </a:prstGeom>
          <a:solidFill>
            <a:srgbClr val="C0C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976872" y="1691640"/>
            <a:ext cx="1417320" cy="868680"/>
          </a:xfrm>
          <a:prstGeom prst="roundRect">
            <a:avLst>
              <a:gd name="adj" fmla="val 14000"/>
            </a:avLst>
          </a:prstGeom>
          <a:solidFill>
            <a:srgbClr val="606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250" b="1">
                <a:solidFill>
                  <a:srgbClr val="FFFFFF"/>
                </a:solidFill>
              </a:rPr>
              <a:t>IOB2 Tag</a:t>
            </a:r>
          </a:p>
          <a:p>
            <a:pPr algn="ctr"/>
            <a:r>
              <a:rPr sz="1250" b="1">
                <a:solidFill>
                  <a:srgbClr val="FFFFFF"/>
                </a:solidFill>
              </a:rPr>
              <a:t>Sequence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2788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5B6072"/>
                </a:solidFill>
                <a:latin typeface="Segoe UI"/>
              </a:rPr>
              <a:t>Backbone: ai4bharat/IndicBERTv2-MLM-only (config-swappable for google/muril-base-cased)  —  torchcrf CRF layer learns valid tag-transition constraints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246120"/>
            <a:ext cx="5440680" cy="2971800"/>
          </a:xfrm>
          <a:prstGeom prst="roundRect">
            <a:avLst>
              <a:gd name="adj" fmla="val 5000"/>
            </a:avLst>
          </a:prstGeom>
          <a:solidFill>
            <a:srgbClr val="F7F8FC"/>
          </a:solidFill>
          <a:ln w="12700">
            <a:solidFill>
              <a:srgbClr val="E3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429000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3F51B5"/>
                </a:solidFill>
                <a:latin typeface="Segoe UI"/>
              </a:rPr>
              <a:t>Why a CRF head?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840480"/>
            <a:ext cx="4937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b="1" sz="1350">
                <a:solidFill>
                  <a:srgbClr val="3F51B5"/>
                </a:solidFill>
                <a:latin typeface="Segoe UI"/>
              </a:rPr>
              <a:t>•  Plain softmax </a:t>
            </a:r>
            <a:r>
              <a:rPr sz="1350">
                <a:solidFill>
                  <a:srgbClr val="333645"/>
                </a:solidFill>
                <a:latin typeface="Segoe UI"/>
              </a:rPr>
              <a:t>tags each token independently — can output illegal sequences like I-PER right after O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b="1" sz="1350">
                <a:solidFill>
                  <a:srgbClr val="3F51B5"/>
                </a:solidFill>
                <a:latin typeface="Segoe UI"/>
              </a:rPr>
              <a:t>•  CRF </a:t>
            </a:r>
            <a:r>
              <a:rPr sz="1350">
                <a:solidFill>
                  <a:srgbClr val="333645"/>
                </a:solidFill>
                <a:latin typeface="Segoe UI"/>
              </a:rPr>
              <a:t>models transition scores between tags and decodes the globally-best label path with Viterbi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b="1" sz="1350">
                <a:solidFill>
                  <a:srgbClr val="3F51B5"/>
                </a:solidFill>
                <a:latin typeface="Segoe UI"/>
              </a:rPr>
              <a:t>•  Result: </a:t>
            </a:r>
            <a:r>
              <a:rPr sz="1350">
                <a:solidFill>
                  <a:srgbClr val="333645"/>
                </a:solidFill>
                <a:latin typeface="Segoe UI"/>
              </a:rPr>
              <a:t>structurally valid IOB2 sequences, especially for multi-word entities (e.g. പിണറായി വിജയൻ)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3246120"/>
            <a:ext cx="5440680" cy="2971800"/>
          </a:xfrm>
          <a:prstGeom prst="roundRect">
            <a:avLst>
              <a:gd name="adj" fmla="val 5000"/>
            </a:avLst>
          </a:prstGeom>
          <a:solidFill>
            <a:srgbClr val="F7F8FC"/>
          </a:solidFill>
          <a:ln w="12700">
            <a:solidFill>
              <a:srgbClr val="E3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3429000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3F51B5"/>
                </a:solidFill>
                <a:latin typeface="Segoe UI"/>
              </a:rPr>
              <a:t>Handling Class Imbalance &amp; Training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3840480"/>
            <a:ext cx="4937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b="1" sz="1350">
                <a:solidFill>
                  <a:srgbClr val="3F51B5"/>
                </a:solidFill>
                <a:latin typeface="Segoe UI"/>
              </a:rPr>
              <a:t>•  Inverse class weighting: </a:t>
            </a:r>
            <a:r>
              <a:rPr sz="1350">
                <a:solidFill>
                  <a:srgbClr val="333645"/>
                </a:solidFill>
                <a:latin typeface="Segoe UI"/>
              </a:rPr>
              <a:t>loss weight ∝ 1/frequency, normalized — forces the model to pay attention to rare PER/ORG/LOC tags, not just ‘O’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b="1" sz="1350">
                <a:solidFill>
                  <a:srgbClr val="3F51B5"/>
                </a:solidFill>
                <a:latin typeface="Segoe UI"/>
              </a:rPr>
              <a:t>•  fp16 mixed precision </a:t>
            </a:r>
            <a:r>
              <a:rPr sz="1350">
                <a:solidFill>
                  <a:srgbClr val="333645"/>
                </a:solidFill>
                <a:latin typeface="Segoe UI"/>
              </a:rPr>
              <a:t>on CUDA, AdamW, lr 3e-5, batch 32, 3 epochs, max_len 128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b="1" sz="1350">
                <a:solidFill>
                  <a:srgbClr val="3F51B5"/>
                </a:solidFill>
                <a:latin typeface="Segoe UI"/>
              </a:rPr>
              <a:t>•  Hybrid rule overlay: </a:t>
            </a:r>
            <a:r>
              <a:rPr sz="1350">
                <a:solidFill>
                  <a:srgbClr val="333645"/>
                </a:solidFill>
                <a:latin typeface="Segoe UI"/>
              </a:rPr>
              <a:t>regex post-processor adds DATE &amp; CARDINAL spans (months, numeric patterns) with zero extra training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A0A5B5"/>
                </a:solidFill>
                <a:latin typeface="Segoe UI"/>
              </a:rPr>
              <a:t>Malayalam NER using IndicBERTv2  |  Project Review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52881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A0A5B5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C7D2FE"/>
                </a:solidFill>
                <a:latin typeface="Segoe UI Semibold"/>
              </a:rPr>
              <a:t>SEE IT IN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02336"/>
            <a:ext cx="105156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Segoe UI"/>
              </a:rPr>
              <a:t>Live Demo — Gradio Web 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384048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C7D2FE"/>
                </a:solidFill>
                <a:latin typeface="Segoe UI"/>
              </a:rP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234440"/>
            <a:ext cx="11201400" cy="47091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8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emo_ui_m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371600"/>
            <a:ext cx="7818120" cy="449541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732520" y="1417320"/>
            <a:ext cx="2880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3F51B5"/>
                </a:solidFill>
                <a:latin typeface="Segoe UI"/>
              </a:rPr>
              <a:t>What to highlight live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32520" y="1783080"/>
            <a:ext cx="28803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b="1" sz="1250">
                <a:solidFill>
                  <a:srgbClr val="3F51B5"/>
                </a:solidFill>
                <a:latin typeface="Segoe UI"/>
              </a:rPr>
              <a:t>•  Color-coded highlighting </a:t>
            </a:r>
            <a:r>
              <a:rPr sz="1250">
                <a:solidFill>
                  <a:srgbClr val="333645"/>
                </a:solidFill>
                <a:latin typeface="Segoe UI"/>
              </a:rPr>
              <a:t>for PER / ORG / LOC / DATE / CARDINAL, with per-token confidence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b="1" sz="1250">
                <a:solidFill>
                  <a:srgbClr val="3F51B5"/>
                </a:solidFill>
                <a:latin typeface="Segoe UI"/>
              </a:rPr>
              <a:t>•  Clickable links </a:t>
            </a:r>
            <a:r>
              <a:rPr sz="1250">
                <a:solidFill>
                  <a:srgbClr val="333645"/>
                </a:solidFill>
                <a:latin typeface="Segoe UI"/>
              </a:rPr>
              <a:t>auto-generated to Malayalam Wikipedia &amp; Google Search for each entity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b="1" sz="1250">
                <a:solidFill>
                  <a:srgbClr val="3F51B5"/>
                </a:solidFill>
                <a:latin typeface="Segoe UI"/>
              </a:rPr>
              <a:t>•  Live bar charts </a:t>
            </a:r>
            <a:r>
              <a:rPr sz="1250">
                <a:solidFill>
                  <a:srgbClr val="333645"/>
                </a:solidFill>
                <a:latin typeface="Segoe UI"/>
              </a:rPr>
              <a:t>of entity-class distribution per query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b="1" sz="1250">
                <a:solidFill>
                  <a:srgbClr val="3F51B5"/>
                </a:solidFill>
                <a:latin typeface="Segoe UI"/>
              </a:rPr>
              <a:t>•  Batch tab: </a:t>
            </a:r>
            <a:r>
              <a:rPr sz="1250">
                <a:solidFill>
                  <a:srgbClr val="333645"/>
                </a:solidFill>
                <a:latin typeface="Segoe UI"/>
              </a:rPr>
              <a:t>upload a .txt file → aggregate entity frequencies → download CSV report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b="1" sz="1250">
                <a:solidFill>
                  <a:srgbClr val="3F51B5"/>
                </a:solidFill>
                <a:latin typeface="Segoe UI"/>
              </a:rPr>
              <a:t>•  Entity filter toggles </a:t>
            </a:r>
            <a:r>
              <a:rPr sz="1250">
                <a:solidFill>
                  <a:srgbClr val="333645"/>
                </a:solidFill>
                <a:latin typeface="Segoe UI"/>
              </a:rPr>
              <a:t>to show/hide specific tag classes on demand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0533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5B6072"/>
                </a:solidFill>
                <a:latin typeface="Segoe UI"/>
              </a:rPr>
              <a:t>Mockup rendered from actual model output on a real test sentence (predict.py).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A0A5B5"/>
                </a:solidFill>
                <a:latin typeface="Segoe UI"/>
              </a:rPr>
              <a:t>Malayalam NER using IndicBERTv2  |  Project 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52881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A0A5B5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C7D2FE"/>
                </a:solidFill>
                <a:latin typeface="Segoe UI Semibold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02336"/>
            <a:ext cx="105156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Segoe UI"/>
              </a:rPr>
              <a:t>Performance &amp;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384048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C7D2FE"/>
                </a:solidFill>
                <a:latin typeface="Segoe UI"/>
              </a:rPr>
              <a:t>05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4480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3F51B5"/>
                </a:solidFill>
                <a:latin typeface="Segoe UI"/>
              </a:rPr>
              <a:t>Confusion Matrix — Test Set (974 sentences)</a:t>
            </a:r>
          </a:p>
        </p:txBody>
      </p:sp>
      <p:pic>
        <p:nvPicPr>
          <p:cNvPr id="8" name="Picture 7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00200"/>
            <a:ext cx="4663440" cy="36271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40680" y="1234440"/>
            <a:ext cx="6263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3F51B5"/>
                </a:solidFill>
                <a:latin typeface="Segoe UI"/>
              </a:rPr>
              <a:t>Token-Level Metrics (from confusion matrix)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40680" y="1627632"/>
            <a:ext cx="1965960" cy="914400"/>
          </a:xfrm>
          <a:prstGeom prst="roundRect">
            <a:avLst>
              <a:gd name="adj" fmla="val 10000"/>
            </a:avLst>
          </a:prstGeom>
          <a:solidFill>
            <a:srgbClr val="F7F8FC"/>
          </a:solidFill>
          <a:ln w="12700">
            <a:solidFill>
              <a:srgbClr val="E3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40680" y="1627632"/>
            <a:ext cx="50800" cy="914400"/>
          </a:xfrm>
          <a:prstGeom prst="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05272" y="1737360"/>
            <a:ext cx="1691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F51B5"/>
                </a:solidFill>
                <a:latin typeface="Segoe UI"/>
              </a:rPr>
              <a:t>94.1%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05272" y="2157984"/>
            <a:ext cx="1691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B6072"/>
                </a:solidFill>
                <a:latin typeface="Segoe UI"/>
              </a:rPr>
              <a:t>Overall token accuracy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1627632"/>
            <a:ext cx="1965960" cy="914400"/>
          </a:xfrm>
          <a:prstGeom prst="roundRect">
            <a:avLst>
              <a:gd name="adj" fmla="val 10000"/>
            </a:avLst>
          </a:prstGeom>
          <a:solidFill>
            <a:srgbClr val="F7F8FC"/>
          </a:solidFill>
          <a:ln w="12700">
            <a:solidFill>
              <a:srgbClr val="E3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543800" y="1627632"/>
            <a:ext cx="50800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08392" y="1737360"/>
            <a:ext cx="1691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0B981"/>
                </a:solidFill>
                <a:latin typeface="Segoe UI"/>
              </a:rPr>
              <a:t>81.9%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08392" y="2157984"/>
            <a:ext cx="1691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B6072"/>
                </a:solidFill>
                <a:latin typeface="Segoe UI"/>
              </a:rPr>
              <a:t>Macro-F1 (entity tags)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46920" y="1627632"/>
            <a:ext cx="2057400" cy="914400"/>
          </a:xfrm>
          <a:prstGeom prst="roundRect">
            <a:avLst>
              <a:gd name="adj" fmla="val 10000"/>
            </a:avLst>
          </a:prstGeom>
          <a:solidFill>
            <a:srgbClr val="F7F8FC"/>
          </a:solidFill>
          <a:ln w="12700">
            <a:solidFill>
              <a:srgbClr val="E3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646920" y="1627632"/>
            <a:ext cx="50800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11512" y="1737360"/>
            <a:ext cx="17830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59E0B"/>
                </a:solidFill>
                <a:latin typeface="Segoe UI"/>
              </a:rPr>
              <a:t>8,532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11512" y="2157984"/>
            <a:ext cx="1783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B6072"/>
                </a:solidFill>
                <a:latin typeface="Segoe UI"/>
              </a:rPr>
              <a:t>Test tokens evaluated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40680" y="2788920"/>
            <a:ext cx="6217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33645"/>
                </a:solidFill>
                <a:latin typeface="Segoe UI"/>
              </a:rPr>
              <a:t>Per-class F1 score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40680" y="3136392"/>
            <a:ext cx="1920240" cy="731520"/>
          </a:xfrm>
          <a:prstGeom prst="roundRect">
            <a:avLst>
              <a:gd name="adj" fmla="val 12000"/>
            </a:avLst>
          </a:prstGeom>
          <a:solidFill>
            <a:srgbClr val="F7F8FC"/>
          </a:solidFill>
          <a:ln w="12700">
            <a:solidFill>
              <a:srgbClr val="E3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550408" y="324612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 Semibold"/>
              </a:rPr>
              <a:t>B-PER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50408" y="3547872"/>
            <a:ext cx="1783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333645"/>
                </a:solidFill>
                <a:latin typeface="Segoe UI"/>
              </a:rPr>
              <a:t>94.0%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80" y="3136392"/>
            <a:ext cx="1920240" cy="731520"/>
          </a:xfrm>
          <a:prstGeom prst="roundRect">
            <a:avLst>
              <a:gd name="adj" fmla="val 12000"/>
            </a:avLst>
          </a:prstGeom>
          <a:solidFill>
            <a:srgbClr val="F7F8FC"/>
          </a:solidFill>
          <a:ln w="12700">
            <a:solidFill>
              <a:srgbClr val="E3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607808" y="324612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 Semibold"/>
              </a:rPr>
              <a:t>I-PER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07808" y="3547872"/>
            <a:ext cx="1783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333645"/>
                </a:solidFill>
                <a:latin typeface="Segoe UI"/>
              </a:rPr>
              <a:t>95.2%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555480" y="3136392"/>
            <a:ext cx="1920240" cy="731520"/>
          </a:xfrm>
          <a:prstGeom prst="roundRect">
            <a:avLst>
              <a:gd name="adj" fmla="val 12000"/>
            </a:avLst>
          </a:prstGeom>
          <a:solidFill>
            <a:srgbClr val="F7F8FC"/>
          </a:solidFill>
          <a:ln w="12700">
            <a:solidFill>
              <a:srgbClr val="E3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665208" y="324612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 Semibold"/>
              </a:rPr>
              <a:t>B-LOC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65208" y="3547872"/>
            <a:ext cx="1783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333645"/>
                </a:solidFill>
                <a:latin typeface="Segoe UI"/>
              </a:rPr>
              <a:t>91.6%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40680" y="4005072"/>
            <a:ext cx="1920240" cy="731520"/>
          </a:xfrm>
          <a:prstGeom prst="roundRect">
            <a:avLst>
              <a:gd name="adj" fmla="val 12000"/>
            </a:avLst>
          </a:prstGeom>
          <a:solidFill>
            <a:srgbClr val="F7F8FC"/>
          </a:solidFill>
          <a:ln w="12700">
            <a:solidFill>
              <a:srgbClr val="E3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550408" y="411480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 Semibold"/>
              </a:rPr>
              <a:t>I-LOC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50408" y="4416552"/>
            <a:ext cx="1783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333645"/>
                </a:solidFill>
                <a:latin typeface="Segoe UI"/>
              </a:rPr>
              <a:t>73.1%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498080" y="4005072"/>
            <a:ext cx="1920240" cy="731520"/>
          </a:xfrm>
          <a:prstGeom prst="roundRect">
            <a:avLst>
              <a:gd name="adj" fmla="val 12000"/>
            </a:avLst>
          </a:prstGeom>
          <a:solidFill>
            <a:srgbClr val="F7F8FC"/>
          </a:solidFill>
          <a:ln w="12700">
            <a:solidFill>
              <a:srgbClr val="E3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607808" y="411480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 Semibold"/>
              </a:rPr>
              <a:t>B-ORG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07808" y="4416552"/>
            <a:ext cx="1783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333645"/>
                </a:solidFill>
                <a:latin typeface="Segoe UI"/>
              </a:rPr>
              <a:t>77.3%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555480" y="4005072"/>
            <a:ext cx="1920240" cy="731520"/>
          </a:xfrm>
          <a:prstGeom prst="roundRect">
            <a:avLst>
              <a:gd name="adj" fmla="val 12000"/>
            </a:avLst>
          </a:prstGeom>
          <a:solidFill>
            <a:srgbClr val="F7F8FC"/>
          </a:solidFill>
          <a:ln w="12700">
            <a:solidFill>
              <a:srgbClr val="E3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9665208" y="411480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 Semibold"/>
              </a:rPr>
              <a:t>I-ORG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65208" y="4416552"/>
            <a:ext cx="1783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333645"/>
                </a:solidFill>
                <a:latin typeface="Segoe UI"/>
              </a:rPr>
              <a:t>60.0%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40680" y="4956048"/>
            <a:ext cx="62179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5B6072"/>
                </a:solidFill>
                <a:latin typeface="Segoe UI"/>
              </a:rPr>
              <a:t>Insight: PER and LOC entities are detected reliably (F1 &gt; 0.90 on B- tags). ORG is the weakest class — especially I-ORG (60.0% F1) — because multi-word organization names are longer, rarer, and more easily confused with the dominant ‘O’ tag. This is the clearest target for future fine-tuning.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40680" y="6309360"/>
            <a:ext cx="6217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A0A5B5"/>
                </a:solidFill>
                <a:latin typeface="Segoe UI"/>
              </a:rPr>
              <a:t>Note: figures computed at token level from evaluate.py's confusion matrix; strict entity-span seqeval report available via the same script.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A0A5B5"/>
                </a:solidFill>
                <a:latin typeface="Segoe UI"/>
              </a:rPr>
              <a:t>Malayalam NER using IndicBERTv2  |  Project Review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155680" y="652881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A0A5B5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C7D2FE"/>
                </a:solidFill>
                <a:latin typeface="Segoe UI Semibold"/>
              </a:rPr>
              <a:t>PRODUCTIONIZING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02336"/>
            <a:ext cx="105156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Segoe UI"/>
              </a:rPr>
              <a:t>System Integration — FastAPI Backend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384048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C7D2FE"/>
                </a:solidFill>
                <a:latin typeface="Segoe UI"/>
              </a:rPr>
              <a:t>06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98448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3F51B5"/>
                </a:solidFill>
                <a:latin typeface="Segoe UI"/>
              </a:rPr>
              <a:t>Why a separate API layer?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37360"/>
            <a:ext cx="55778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b="1" sz="1450">
                <a:solidFill>
                  <a:srgbClr val="3F51B5"/>
                </a:solidFill>
                <a:latin typeface="Segoe UI"/>
              </a:rPr>
              <a:t>•  Decouples </a:t>
            </a:r>
            <a:r>
              <a:rPr sz="1450">
                <a:solidFill>
                  <a:srgbClr val="333645"/>
                </a:solidFill>
                <a:latin typeface="Segoe UI"/>
              </a:rPr>
              <a:t>model inference from the Gradio UI — any client (web, mobile, another service) can call the same model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b="1" sz="1450">
                <a:solidFill>
                  <a:srgbClr val="3F51B5"/>
                </a:solidFill>
                <a:latin typeface="Segoe UI"/>
              </a:rPr>
              <a:t>•  server.py </a:t>
            </a:r>
            <a:r>
              <a:rPr sz="1450">
                <a:solidFill>
                  <a:srgbClr val="333645"/>
                </a:solidFill>
                <a:latin typeface="Segoe UI"/>
              </a:rPr>
              <a:t>exposes a single POST /predict endpoint via FastAPI + Uvicorn (ASGI)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b="1" sz="1450">
                <a:solidFill>
                  <a:srgbClr val="3F51B5"/>
                </a:solidFill>
                <a:latin typeface="Segoe UI"/>
              </a:rPr>
              <a:t>•  Pydantic </a:t>
            </a:r>
            <a:r>
              <a:rPr sz="1450">
                <a:solidFill>
                  <a:srgbClr val="333645"/>
                </a:solidFill>
                <a:latin typeface="Segoe UI"/>
              </a:rPr>
              <a:t>request validation (TextRequest schema) and structured HTTPException error handling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b="1" sz="1450">
                <a:solidFill>
                  <a:srgbClr val="3F51B5"/>
                </a:solidFill>
                <a:latin typeface="Segoe UI"/>
              </a:rPr>
              <a:t>•  Response </a:t>
            </a:r>
            <a:r>
              <a:rPr sz="1450">
                <a:solidFill>
                  <a:srgbClr val="333645"/>
                </a:solidFill>
                <a:latin typeface="Segoe UI"/>
              </a:rPr>
              <a:t>returns both word-level tags and grouped entity spans as JSON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160520"/>
            <a:ext cx="5577840" cy="2057400"/>
          </a:xfrm>
          <a:prstGeom prst="roundRect">
            <a:avLst>
              <a:gd name="adj" fmla="val 6000"/>
            </a:avLst>
          </a:prstGeom>
          <a:solidFill>
            <a:srgbClr val="1E2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315968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59E0B"/>
                </a:solidFill>
                <a:latin typeface="Consolas"/>
              </a:rPr>
              <a:t>POST /predict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617720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B8C4E0"/>
                </a:solidFill>
                <a:latin typeface="Consolas"/>
              </a:rPr>
              <a:t>{ "text": "തിരുവനന്തപുരത്ത് ... പിണറായി വിജയൻ ..." 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166360"/>
            <a:ext cx="5120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7DE0A6"/>
                </a:solidFill>
                <a:latin typeface="Consolas"/>
              </a:rPr>
              <a:t>{ "entities": [</a:t>
            </a:r>
          </a:p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7DE0A6"/>
                </a:solidFill>
                <a:latin typeface="Consolas"/>
              </a:rPr>
              <a:t>    {"text": "പിണറായി വിജയൻ", "type": "PER", "confidence": 0.99},</a:t>
            </a:r>
          </a:p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7DE0A6"/>
                </a:solidFill>
                <a:latin typeface="Consolas"/>
              </a:rPr>
              <a:t>    {"text": "തിരുവനന്തപുരത്ത്", "type": "LOC", "confidence": 0.70}</a:t>
            </a:r>
          </a:p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7DE0A6"/>
                </a:solidFill>
                <a:latin typeface="Consolas"/>
              </a:rPr>
              <a:t>  ] }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298448"/>
            <a:ext cx="5349240" cy="4937760"/>
          </a:xfrm>
          <a:prstGeom prst="roundRect">
            <a:avLst>
              <a:gd name="adj" fmla="val 5000"/>
            </a:avLst>
          </a:prstGeom>
          <a:solidFill>
            <a:srgbClr val="F7F8FC"/>
          </a:solidFill>
          <a:ln w="12700">
            <a:solidFill>
              <a:srgbClr val="E3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1481328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3F51B5"/>
                </a:solidFill>
                <a:latin typeface="Segoe UI"/>
              </a:rPr>
              <a:t>Completed enhancements so far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192024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400"/>
              </a:spcAft>
            </a:pPr>
            <a:r>
              <a:rPr b="1" sz="1350">
                <a:solidFill>
                  <a:srgbClr val="3F51B5"/>
                </a:solidFill>
                <a:latin typeface="Segoe UI"/>
              </a:rPr>
              <a:t>•  Wikipedia / Google links </a:t>
            </a:r>
            <a:r>
              <a:rPr sz="1350">
                <a:solidFill>
                  <a:srgbClr val="333645"/>
                </a:solidFill>
                <a:latin typeface="Segoe UI"/>
              </a:rPr>
              <a:t>auto-generated for every PER, ORG, LOC hit — turns raw tags into actionable lookups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b="1" sz="1350">
                <a:solidFill>
                  <a:srgbClr val="3F51B5"/>
                </a:solidFill>
                <a:latin typeface="Segoe UI"/>
              </a:rPr>
              <a:t>•  Batch file processor </a:t>
            </a:r>
            <a:r>
              <a:rPr sz="1350">
                <a:solidFill>
                  <a:srgbClr val="333645"/>
                </a:solidFill>
                <a:latin typeface="Segoe UI"/>
              </a:rPr>
              <a:t>for .txt uploads with aggregated entity-frequency CSV export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b="1" sz="1350">
                <a:solidFill>
                  <a:srgbClr val="3F51B5"/>
                </a:solidFill>
                <a:latin typeface="Segoe UI"/>
              </a:rPr>
              <a:t>•  Entity distribution charts </a:t>
            </a:r>
            <a:r>
              <a:rPr sz="1350">
                <a:solidFill>
                  <a:srgbClr val="333645"/>
                </a:solidFill>
                <a:latin typeface="Segoe UI"/>
              </a:rPr>
              <a:t>(Gradio BarPlot) for both single-sentence and batch views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b="1" sz="1350">
                <a:solidFill>
                  <a:srgbClr val="3F51B5"/>
                </a:solidFill>
                <a:latin typeface="Segoe UI"/>
              </a:rPr>
              <a:t>•  FastAPI microservice </a:t>
            </a:r>
            <a:r>
              <a:rPr sz="1350">
                <a:solidFill>
                  <a:srgbClr val="333645"/>
                </a:solidFill>
                <a:latin typeface="Segoe UI"/>
              </a:rPr>
              <a:t>(server.py) exposing /predict as a production-ready REST endpoint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b="1" sz="1350">
                <a:solidFill>
                  <a:srgbClr val="3F51B5"/>
                </a:solidFill>
                <a:latin typeface="Segoe UI"/>
              </a:rPr>
              <a:t>•  CRF + inverse-weighted </a:t>
            </a:r>
            <a:r>
              <a:rPr sz="1350">
                <a:solidFill>
                  <a:srgbClr val="333645"/>
                </a:solidFill>
                <a:latin typeface="Segoe UI"/>
              </a:rPr>
              <a:t>training pipeline, fully reproducible via train.py / evaluate.py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A0A5B5"/>
                </a:solidFill>
                <a:latin typeface="Segoe UI"/>
              </a:rPr>
              <a:t>Malayalam NER using IndicBERTv2  |  Project Review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52881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A0A5B5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C7D2FE"/>
                </a:solidFill>
                <a:latin typeface="Segoe UI Semibold"/>
              </a:rPr>
              <a:t>WHAT'S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02336"/>
            <a:ext cx="105156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Segoe UI"/>
              </a:rPr>
              <a:t>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384048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C7D2FE"/>
                </a:solidFill>
                <a:latin typeface="Segoe UI"/>
              </a:rPr>
              <a:t>07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3611880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E3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371600"/>
            <a:ext cx="3611880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664208"/>
            <a:ext cx="1097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E7E9F2"/>
                </a:solidFill>
                <a:latin typeface="Segoe U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423160"/>
            <a:ext cx="3099816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333645"/>
                </a:solidFill>
                <a:latin typeface="Segoe UI"/>
              </a:rPr>
              <a:t>PDF / DOCX Document Highlighter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3337560"/>
            <a:ext cx="3099816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B6072"/>
                </a:solidFill>
                <a:latin typeface="Segoe UI"/>
              </a:rPr>
              <a:t>Extend the batch tab to accept real-world document formats. Extract raw text, run the existing model, and render a highlighted HTML/markdown view — useful for legal docs, news archives, reports.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371600"/>
            <a:ext cx="3611880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E3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371600"/>
            <a:ext cx="3611880" cy="822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1664208"/>
            <a:ext cx="1097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E7E9F2"/>
                </a:solidFill>
                <a:latin typeface="Segoe U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2423160"/>
            <a:ext cx="3099816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333645"/>
                </a:solidFill>
                <a:latin typeface="Segoe UI"/>
              </a:rPr>
              <a:t>Entity Co-occurrence Network Graph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3712" y="3337560"/>
            <a:ext cx="3099816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B6072"/>
                </a:solidFill>
                <a:latin typeface="Segoe UI"/>
              </a:rPr>
              <a:t>Detect entities that appear together in the same sentence (e.g. പിണറായി വിജയൻ [PER] + തിരുവനന്തപുരത്ത് [LOC]) and render a relation map using networkx — no retraining needed.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1371600"/>
            <a:ext cx="3611880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E3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92440" y="1371600"/>
            <a:ext cx="3611880" cy="82296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48472" y="1664208"/>
            <a:ext cx="1097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E7E9F2"/>
                </a:solidFill>
                <a:latin typeface="Segoe U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48472" y="2423160"/>
            <a:ext cx="3099816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333645"/>
                </a:solidFill>
                <a:latin typeface="Segoe UI"/>
              </a:rPr>
              <a:t>ONNX CPU Optimization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48472" y="3337560"/>
            <a:ext cx="3099816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B6072"/>
                </a:solidFill>
                <a:latin typeface="Segoe UI"/>
              </a:rPr>
              <a:t>Export the fine-tuned PyTorch model to ONNX and benchmark ONNX Runtime vs. native PyTorch on CPU — targets low-latency, low-memory deployment without a GPU.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80644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5B6072"/>
                </a:solidFill>
                <a:latin typeface="Segoe UI"/>
              </a:rPr>
              <a:t>All three are training-free extensions of the current model — they build on what already works rather than requiring a new fine-tuning cycle.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A0A5B5"/>
                </a:solidFill>
                <a:latin typeface="Segoe UI"/>
              </a:rPr>
              <a:t>Malayalam NER using IndicBERTv2  |  Project Review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52881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A0A5B5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